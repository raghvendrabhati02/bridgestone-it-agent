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731520"/>
          </a:xfrm>
          <a:prstGeom prst="rect">
            <a:avLst/>
          </a:prstGeom>
          <a:noFill/>
        </p:spPr>
        <p:txBody>
          <a:bodyPr wrap="square" lIns="0">
            <a:spAutoFit/>
          </a:bodyPr>
          <a:lstStyle/>
          <a:p>
            <a:pPr>
              <a:defRPr sz="2400" b="1">
                <a:solidFill>
                  <a:srgbClr val="333333"/>
                </a:solidFill>
                <a:latin typeface="Segoe UI"/>
              </a:defRPr>
            </a:pPr>
            <a:r>
              <a:t>Problem Statement: Current IT Support Process</a:t>
            </a:r>
          </a:p>
        </p:txBody>
      </p:sp>
      <p:sp>
        <p:nvSpPr>
          <p:cNvPr id="4" name="TextBox 3"/>
          <p:cNvSpPr txBox="1"/>
          <p:nvPr/>
        </p:nvSpPr>
        <p:spPr>
          <a:xfrm>
            <a:off x="8686800" y="365760"/>
            <a:ext cx="2743200" cy="731520"/>
          </a:xfrm>
          <a:prstGeom prst="rect">
            <a:avLst/>
          </a:prstGeom>
          <a:noFill/>
        </p:spPr>
        <p:txBody>
          <a:bodyPr wrap="none" rIns="0">
            <a:spAutoFit/>
          </a:bodyPr>
          <a:lstStyle/>
          <a:p>
            <a:pPr algn="r">
              <a:defRPr sz="1400" b="1">
                <a:solidFill>
                  <a:srgbClr val="E60012"/>
                </a:solidFill>
                <a:latin typeface="Segoe UI"/>
              </a:defRPr>
            </a:pPr>
            <a:r>
              <a:t>BRIDGESTONE</a:t>
            </a:r>
          </a:p>
          <a:p>
            <a:pPr algn="r">
              <a:defRPr sz="850" b="1">
                <a:solidFill>
                  <a:srgbClr val="808080"/>
                </a:solidFill>
                <a:latin typeface="Segoe UI"/>
              </a:defRPr>
            </a:pPr>
            <a:r>
              <a:t>ENTERPRISE IT AGENT</a:t>
            </a:r>
          </a:p>
        </p:txBody>
      </p:sp>
      <p:sp>
        <p:nvSpPr>
          <p:cNvPr id="5" name="Rectangle 4"/>
          <p:cNvSpPr/>
          <p:nvPr/>
        </p:nvSpPr>
        <p:spPr>
          <a:xfrm>
            <a:off x="731520" y="6400800"/>
            <a:ext cx="1072865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7315200" cy="320040"/>
          </a:xfrm>
          <a:prstGeom prst="rect">
            <a:avLst/>
          </a:prstGeom>
          <a:noFill/>
        </p:spPr>
        <p:txBody>
          <a:bodyPr wrap="none" lIns="0">
            <a:spAutoFit/>
          </a:bodyPr>
          <a:lstStyle/>
          <a:p>
            <a:pPr>
              <a:defRPr sz="850">
                <a:solidFill>
                  <a:srgbClr val="808080"/>
                </a:solidFill>
                <a:latin typeface="Segoe UI"/>
              </a:defRPr>
            </a:pPr>
            <a:r>
              <a:t>Bridgestone India IT Operations  |  Autonomous Enterprise IT Support Engineer</a:t>
            </a:r>
          </a:p>
        </p:txBody>
      </p:sp>
      <p:sp>
        <p:nvSpPr>
          <p:cNvPr id="7" name="TextBox 6"/>
          <p:cNvSpPr txBox="1"/>
          <p:nvPr/>
        </p:nvSpPr>
        <p:spPr>
          <a:xfrm>
            <a:off x="9601200" y="6446520"/>
            <a:ext cx="1828800" cy="320040"/>
          </a:xfrm>
          <a:prstGeom prst="rect">
            <a:avLst/>
          </a:prstGeom>
          <a:noFill/>
        </p:spPr>
        <p:txBody>
          <a:bodyPr wrap="none" rIns="0">
            <a:spAutoFit/>
          </a:bodyPr>
          <a:lstStyle/>
          <a:p>
            <a:pPr algn="r">
              <a:defRPr sz="850">
                <a:solidFill>
                  <a:srgbClr val="808080"/>
                </a:solidFill>
                <a:latin typeface="Segoe UI"/>
              </a:defRPr>
            </a:pPr>
            <a:r>
              <a:t>1 / 6</a:t>
            </a:r>
          </a:p>
        </p:txBody>
      </p:sp>
      <p:sp>
        <p:nvSpPr>
          <p:cNvPr id="8" name="TextBox 7"/>
          <p:cNvSpPr txBox="1"/>
          <p:nvPr/>
        </p:nvSpPr>
        <p:spPr>
          <a:xfrm>
            <a:off x="731520" y="1188720"/>
            <a:ext cx="4572000" cy="365760"/>
          </a:xfrm>
          <a:prstGeom prst="rect">
            <a:avLst/>
          </a:prstGeom>
          <a:noFill/>
        </p:spPr>
        <p:txBody>
          <a:bodyPr wrap="none">
            <a:spAutoFit/>
          </a:bodyPr>
          <a:lstStyle/>
          <a:p>
            <a:pPr>
              <a:defRPr sz="1200" b="1">
                <a:solidFill>
                  <a:srgbClr val="E60012"/>
                </a:solidFill>
                <a:latin typeface="Segoe UI"/>
              </a:defRPr>
            </a:pPr>
            <a:r>
              <a:t>CURRENT ENTERPRISE WORKFLOW</a:t>
            </a:r>
          </a:p>
        </p:txBody>
      </p:sp>
      <p:sp>
        <p:nvSpPr>
          <p:cNvPr id="9" name="Rounded Rectangle 8"/>
          <p:cNvSpPr/>
          <p:nvPr/>
        </p:nvSpPr>
        <p:spPr>
          <a:xfrm>
            <a:off x="731520" y="1645920"/>
            <a:ext cx="4114800" cy="56692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645920"/>
            <a:ext cx="73152" cy="5669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1645920"/>
            <a:ext cx="3840480" cy="566928"/>
          </a:xfrm>
          <a:prstGeom prst="rect">
            <a:avLst/>
          </a:prstGeom>
          <a:noFill/>
        </p:spPr>
        <p:txBody>
          <a:bodyPr wrap="square" tIns="73152" lIns="45720">
            <a:spAutoFit/>
          </a:bodyPr>
          <a:lstStyle/>
          <a:p>
            <a:pPr>
              <a:defRPr sz="1100" b="1">
                <a:solidFill>
                  <a:srgbClr val="333333"/>
                </a:solidFill>
                <a:latin typeface="Segoe UI"/>
              </a:defRPr>
            </a:pPr>
            <a:r>
              <a:t>1. Employee</a:t>
            </a:r>
          </a:p>
          <a:p>
            <a:pPr>
              <a:defRPr sz="900">
                <a:solidFill>
                  <a:srgbClr val="808080"/>
                </a:solidFill>
                <a:latin typeface="Segoe UI"/>
              </a:defRPr>
            </a:pPr>
            <a:r>
              <a:t>Encounters issue and submits ticket request</a:t>
            </a:r>
          </a:p>
        </p:txBody>
      </p:sp>
      <p:sp>
        <p:nvSpPr>
          <p:cNvPr id="12" name="Down Arrow 11"/>
          <p:cNvSpPr/>
          <p:nvPr/>
        </p:nvSpPr>
        <p:spPr>
          <a:xfrm>
            <a:off x="2715768" y="2231136"/>
            <a:ext cx="146304" cy="100584"/>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2350008"/>
            <a:ext cx="4114800" cy="56692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2350008"/>
            <a:ext cx="73152" cy="5669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2350008"/>
            <a:ext cx="3840480" cy="566928"/>
          </a:xfrm>
          <a:prstGeom prst="rect">
            <a:avLst/>
          </a:prstGeom>
          <a:noFill/>
        </p:spPr>
        <p:txBody>
          <a:bodyPr wrap="square" tIns="73152" lIns="45720">
            <a:spAutoFit/>
          </a:bodyPr>
          <a:lstStyle/>
          <a:p>
            <a:pPr>
              <a:defRPr sz="1100" b="1">
                <a:solidFill>
                  <a:srgbClr val="333333"/>
                </a:solidFill>
                <a:latin typeface="Segoe UI"/>
              </a:defRPr>
            </a:pPr>
            <a:r>
              <a:t>2. Raise Ticket</a:t>
            </a:r>
          </a:p>
          <a:p>
            <a:pPr>
              <a:defRPr sz="900">
                <a:solidFill>
                  <a:srgbClr val="808080"/>
                </a:solidFill>
                <a:latin typeface="Segoe UI"/>
              </a:defRPr>
            </a:pPr>
            <a:r>
              <a:t>Incident created and categorized in queue</a:t>
            </a:r>
          </a:p>
        </p:txBody>
      </p:sp>
      <p:sp>
        <p:nvSpPr>
          <p:cNvPr id="16" name="Down Arrow 15"/>
          <p:cNvSpPr/>
          <p:nvPr/>
        </p:nvSpPr>
        <p:spPr>
          <a:xfrm>
            <a:off x="2715768" y="2935224"/>
            <a:ext cx="146304" cy="100584"/>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1520" y="3054096"/>
            <a:ext cx="4114800" cy="56692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31520" y="3054096"/>
            <a:ext cx="73152" cy="5669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3054096"/>
            <a:ext cx="3840480" cy="566928"/>
          </a:xfrm>
          <a:prstGeom prst="rect">
            <a:avLst/>
          </a:prstGeom>
          <a:noFill/>
        </p:spPr>
        <p:txBody>
          <a:bodyPr wrap="square" tIns="73152" lIns="45720">
            <a:spAutoFit/>
          </a:bodyPr>
          <a:lstStyle/>
          <a:p>
            <a:pPr>
              <a:defRPr sz="1100" b="1">
                <a:solidFill>
                  <a:srgbClr val="333333"/>
                </a:solidFill>
                <a:latin typeface="Segoe UI"/>
              </a:defRPr>
            </a:pPr>
            <a:r>
              <a:t>3. IT Engineer</a:t>
            </a:r>
          </a:p>
          <a:p>
            <a:pPr>
              <a:defRPr sz="900">
                <a:solidFill>
                  <a:srgbClr val="808080"/>
                </a:solidFill>
                <a:latin typeface="Segoe UI"/>
              </a:defRPr>
            </a:pPr>
            <a:r>
              <a:t>Assigned manual troubleshooting queue</a:t>
            </a:r>
          </a:p>
        </p:txBody>
      </p:sp>
      <p:sp>
        <p:nvSpPr>
          <p:cNvPr id="20" name="Down Arrow 19"/>
          <p:cNvSpPr/>
          <p:nvPr/>
        </p:nvSpPr>
        <p:spPr>
          <a:xfrm>
            <a:off x="2715768" y="3639312"/>
            <a:ext cx="146304" cy="100584"/>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 y="3758184"/>
            <a:ext cx="4114800" cy="56692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 y="3758184"/>
            <a:ext cx="73152" cy="5669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758184"/>
            <a:ext cx="3840480" cy="566928"/>
          </a:xfrm>
          <a:prstGeom prst="rect">
            <a:avLst/>
          </a:prstGeom>
          <a:noFill/>
        </p:spPr>
        <p:txBody>
          <a:bodyPr wrap="square" tIns="73152" lIns="45720">
            <a:spAutoFit/>
          </a:bodyPr>
          <a:lstStyle/>
          <a:p>
            <a:pPr>
              <a:defRPr sz="1100" b="1">
                <a:solidFill>
                  <a:srgbClr val="333333"/>
                </a:solidFill>
                <a:latin typeface="Segoe UI"/>
              </a:defRPr>
            </a:pPr>
            <a:r>
              <a:t>4. Manual Troubleshoot</a:t>
            </a:r>
          </a:p>
          <a:p>
            <a:pPr>
              <a:defRPr sz="900">
                <a:solidFill>
                  <a:srgbClr val="808080"/>
                </a:solidFill>
                <a:latin typeface="Segoe UI"/>
              </a:defRPr>
            </a:pPr>
            <a:r>
              <a:t>Engineer performs steps and tests manually</a:t>
            </a:r>
          </a:p>
        </p:txBody>
      </p:sp>
      <p:sp>
        <p:nvSpPr>
          <p:cNvPr id="24" name="Down Arrow 23"/>
          <p:cNvSpPr/>
          <p:nvPr/>
        </p:nvSpPr>
        <p:spPr>
          <a:xfrm>
            <a:off x="2715768" y="4343400"/>
            <a:ext cx="146304" cy="100584"/>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462272"/>
            <a:ext cx="4114800" cy="56692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1520" y="4462272"/>
            <a:ext cx="73152" cy="5669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4400" y="4462272"/>
            <a:ext cx="3840480" cy="566928"/>
          </a:xfrm>
          <a:prstGeom prst="rect">
            <a:avLst/>
          </a:prstGeom>
          <a:noFill/>
        </p:spPr>
        <p:txBody>
          <a:bodyPr wrap="square" tIns="73152" lIns="45720">
            <a:spAutoFit/>
          </a:bodyPr>
          <a:lstStyle/>
          <a:p>
            <a:pPr>
              <a:defRPr sz="1100" b="1">
                <a:solidFill>
                  <a:srgbClr val="333333"/>
                </a:solidFill>
                <a:latin typeface="Segoe UI"/>
              </a:defRPr>
            </a:pPr>
            <a:r>
              <a:t>5. Software Install</a:t>
            </a:r>
          </a:p>
          <a:p>
            <a:pPr>
              <a:defRPr sz="900">
                <a:solidFill>
                  <a:srgbClr val="808080"/>
                </a:solidFill>
                <a:latin typeface="Segoe UI"/>
              </a:defRPr>
            </a:pPr>
            <a:r>
              <a:t>SMEs download &amp; deploy software manually</a:t>
            </a:r>
          </a:p>
        </p:txBody>
      </p:sp>
      <p:sp>
        <p:nvSpPr>
          <p:cNvPr id="28" name="Down Arrow 27"/>
          <p:cNvSpPr/>
          <p:nvPr/>
        </p:nvSpPr>
        <p:spPr>
          <a:xfrm>
            <a:off x="2715768" y="5047488"/>
            <a:ext cx="146304" cy="100584"/>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1520" y="5166360"/>
            <a:ext cx="4114800" cy="56692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1520" y="5166360"/>
            <a:ext cx="73152" cy="566928"/>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14400" y="5166360"/>
            <a:ext cx="3840480" cy="566928"/>
          </a:xfrm>
          <a:prstGeom prst="rect">
            <a:avLst/>
          </a:prstGeom>
          <a:noFill/>
        </p:spPr>
        <p:txBody>
          <a:bodyPr wrap="square" tIns="73152" lIns="45720">
            <a:spAutoFit/>
          </a:bodyPr>
          <a:lstStyle/>
          <a:p>
            <a:pPr>
              <a:defRPr sz="1100" b="1">
                <a:solidFill>
                  <a:srgbClr val="333333"/>
                </a:solidFill>
                <a:latin typeface="Segoe UI"/>
              </a:defRPr>
            </a:pPr>
            <a:r>
              <a:t>6. Resolution</a:t>
            </a:r>
          </a:p>
          <a:p>
            <a:pPr>
              <a:defRPr sz="900">
                <a:solidFill>
                  <a:srgbClr val="808080"/>
                </a:solidFill>
                <a:latin typeface="Segoe UI"/>
              </a:defRPr>
            </a:pPr>
            <a:r>
              <a:t>Incident is verified and ticket resolved</a:t>
            </a:r>
          </a:p>
        </p:txBody>
      </p:sp>
      <p:sp>
        <p:nvSpPr>
          <p:cNvPr id="32" name="TextBox 31"/>
          <p:cNvSpPr txBox="1"/>
          <p:nvPr/>
        </p:nvSpPr>
        <p:spPr>
          <a:xfrm>
            <a:off x="6217920" y="1188720"/>
            <a:ext cx="5120640" cy="365760"/>
          </a:xfrm>
          <a:prstGeom prst="rect">
            <a:avLst/>
          </a:prstGeom>
          <a:noFill/>
        </p:spPr>
        <p:txBody>
          <a:bodyPr wrap="none">
            <a:spAutoFit/>
          </a:bodyPr>
          <a:lstStyle/>
          <a:p>
            <a:pPr>
              <a:defRPr sz="1200" b="1">
                <a:solidFill>
                  <a:srgbClr val="333333"/>
                </a:solidFill>
                <a:latin typeface="Segoe UI"/>
              </a:defRPr>
            </a:pPr>
            <a:r>
              <a:t>CRITICAL PAIN POINTS</a:t>
            </a:r>
          </a:p>
        </p:txBody>
      </p:sp>
      <p:sp>
        <p:nvSpPr>
          <p:cNvPr id="33" name="Rounded Rectangle 32"/>
          <p:cNvSpPr/>
          <p:nvPr/>
        </p:nvSpPr>
        <p:spPr>
          <a:xfrm>
            <a:off x="6217920" y="1645920"/>
            <a:ext cx="5212080" cy="3977639"/>
          </a:xfrm>
          <a:prstGeom prst="roundRect">
            <a:avLst>
              <a:gd name="adj" fmla="val 3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492240" y="1828800"/>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675120" y="2048256"/>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95160" y="1828800"/>
            <a:ext cx="4023360" cy="640080"/>
          </a:xfrm>
          <a:prstGeom prst="rect">
            <a:avLst/>
          </a:prstGeom>
          <a:noFill/>
        </p:spPr>
        <p:txBody>
          <a:bodyPr wrap="square" tIns="91440">
            <a:spAutoFit/>
          </a:bodyPr>
          <a:lstStyle/>
          <a:p>
            <a:pPr>
              <a:defRPr sz="1100" b="1">
                <a:solidFill>
                  <a:srgbClr val="333333"/>
                </a:solidFill>
                <a:latin typeface="Segoe UI"/>
              </a:defRPr>
            </a:pPr>
            <a:r>
              <a:t>Manual Work</a:t>
            </a:r>
          </a:p>
          <a:p>
            <a:pPr>
              <a:defRPr sz="850">
                <a:solidFill>
                  <a:srgbClr val="808080"/>
                </a:solidFill>
                <a:latin typeface="Segoe UI"/>
              </a:defRPr>
            </a:pPr>
            <a:r>
              <a:t>High volume of human intervention on standard endpoints</a:t>
            </a:r>
          </a:p>
        </p:txBody>
      </p:sp>
      <p:sp>
        <p:nvSpPr>
          <p:cNvPr id="37" name="Rounded Rectangle 36"/>
          <p:cNvSpPr/>
          <p:nvPr/>
        </p:nvSpPr>
        <p:spPr>
          <a:xfrm>
            <a:off x="6492240" y="2578608"/>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675120" y="2798064"/>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995160" y="2578608"/>
            <a:ext cx="4023360" cy="640080"/>
          </a:xfrm>
          <a:prstGeom prst="rect">
            <a:avLst/>
          </a:prstGeom>
          <a:noFill/>
        </p:spPr>
        <p:txBody>
          <a:bodyPr wrap="square" tIns="91440">
            <a:spAutoFit/>
          </a:bodyPr>
          <a:lstStyle/>
          <a:p>
            <a:pPr>
              <a:defRPr sz="1100" b="1">
                <a:solidFill>
                  <a:srgbClr val="333333"/>
                </a:solidFill>
                <a:latin typeface="Segoe UI"/>
              </a:defRPr>
            </a:pPr>
            <a:r>
              <a:t>Long Waiting Time</a:t>
            </a:r>
          </a:p>
          <a:p>
            <a:pPr>
              <a:defRPr sz="850">
                <a:solidFill>
                  <a:srgbClr val="808080"/>
                </a:solidFill>
                <a:latin typeface="Segoe UI"/>
              </a:defRPr>
            </a:pPr>
            <a:r>
              <a:t>Support backlogs delay resolution and user uptime</a:t>
            </a:r>
          </a:p>
        </p:txBody>
      </p:sp>
      <p:sp>
        <p:nvSpPr>
          <p:cNvPr id="40" name="Rounded Rectangle 39"/>
          <p:cNvSpPr/>
          <p:nvPr/>
        </p:nvSpPr>
        <p:spPr>
          <a:xfrm>
            <a:off x="6492240" y="3328416"/>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675120" y="3547872"/>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995160" y="3328416"/>
            <a:ext cx="4023360" cy="640080"/>
          </a:xfrm>
          <a:prstGeom prst="rect">
            <a:avLst/>
          </a:prstGeom>
          <a:noFill/>
        </p:spPr>
        <p:txBody>
          <a:bodyPr wrap="square" tIns="91440">
            <a:spAutoFit/>
          </a:bodyPr>
          <a:lstStyle/>
          <a:p>
            <a:pPr>
              <a:defRPr sz="1100" b="1">
                <a:solidFill>
                  <a:srgbClr val="333333"/>
                </a:solidFill>
                <a:latin typeface="Segoe UI"/>
              </a:defRPr>
            </a:pPr>
            <a:r>
              <a:t>Engineer Dependency</a:t>
            </a:r>
          </a:p>
          <a:p>
            <a:pPr>
              <a:defRPr sz="850">
                <a:solidFill>
                  <a:srgbClr val="808080"/>
                </a:solidFill>
                <a:latin typeface="Segoe UI"/>
              </a:defRPr>
            </a:pPr>
            <a:r>
              <a:t>Trained specialists required for trivial operations</a:t>
            </a:r>
          </a:p>
        </p:txBody>
      </p:sp>
      <p:sp>
        <p:nvSpPr>
          <p:cNvPr id="43" name="Rounded Rectangle 42"/>
          <p:cNvSpPr/>
          <p:nvPr/>
        </p:nvSpPr>
        <p:spPr>
          <a:xfrm>
            <a:off x="6492240" y="4078224"/>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6675120" y="4297680"/>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995160" y="4078224"/>
            <a:ext cx="4023360" cy="640080"/>
          </a:xfrm>
          <a:prstGeom prst="rect">
            <a:avLst/>
          </a:prstGeom>
          <a:noFill/>
        </p:spPr>
        <p:txBody>
          <a:bodyPr wrap="square" tIns="91440">
            <a:spAutoFit/>
          </a:bodyPr>
          <a:lstStyle/>
          <a:p>
            <a:pPr>
              <a:defRPr sz="1100" b="1">
                <a:solidFill>
                  <a:srgbClr val="333333"/>
                </a:solidFill>
                <a:latin typeface="Segoe UI"/>
              </a:defRPr>
            </a:pPr>
            <a:r>
              <a:t>High Operational Cost</a:t>
            </a:r>
          </a:p>
          <a:p>
            <a:pPr>
              <a:defRPr sz="850">
                <a:solidFill>
                  <a:srgbClr val="808080"/>
                </a:solidFill>
                <a:latin typeface="Segoe UI"/>
              </a:defRPr>
            </a:pPr>
            <a:r>
              <a:t>Linear cost scaling alongside employee growth</a:t>
            </a:r>
          </a:p>
        </p:txBody>
      </p:sp>
      <p:sp>
        <p:nvSpPr>
          <p:cNvPr id="46" name="Rounded Rectangle 45"/>
          <p:cNvSpPr/>
          <p:nvPr/>
        </p:nvSpPr>
        <p:spPr>
          <a:xfrm>
            <a:off x="6492240" y="4828032"/>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675120" y="5047488"/>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995160" y="4828032"/>
            <a:ext cx="4023360" cy="640080"/>
          </a:xfrm>
          <a:prstGeom prst="rect">
            <a:avLst/>
          </a:prstGeom>
          <a:noFill/>
        </p:spPr>
        <p:txBody>
          <a:bodyPr wrap="square" tIns="91440">
            <a:spAutoFit/>
          </a:bodyPr>
          <a:lstStyle/>
          <a:p>
            <a:pPr>
              <a:defRPr sz="1100" b="1">
                <a:solidFill>
                  <a:srgbClr val="333333"/>
                </a:solidFill>
                <a:latin typeface="Segoe UI"/>
              </a:defRPr>
            </a:pPr>
            <a:r>
              <a:t>Repetitive Tasks</a:t>
            </a:r>
          </a:p>
          <a:p>
            <a:pPr>
              <a:defRPr sz="850">
                <a:solidFill>
                  <a:srgbClr val="808080"/>
                </a:solidFill>
                <a:latin typeface="Segoe UI"/>
              </a:defRPr>
            </a:pPr>
            <a:r>
              <a:t>Routine configuration errors occupy engineering time</a:t>
            </a:r>
          </a:p>
        </p:txBody>
      </p:sp>
      <p:sp>
        <p:nvSpPr>
          <p:cNvPr id="49" name="Rounded Rectangle 48"/>
          <p:cNvSpPr/>
          <p:nvPr/>
        </p:nvSpPr>
        <p:spPr>
          <a:xfrm>
            <a:off x="731520" y="5779008"/>
            <a:ext cx="10698480" cy="475488"/>
          </a:xfrm>
          <a:prstGeom prst="roundRect">
            <a:avLst>
              <a:gd name="adj" fmla="val 8000"/>
            </a:avLst>
          </a:prstGeom>
          <a:solidFill>
            <a:srgbClr val="FFF5F5"/>
          </a:solidFill>
          <a:ln w="127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14400" y="5779008"/>
            <a:ext cx="10332720" cy="475488"/>
          </a:xfrm>
          <a:prstGeom prst="rect">
            <a:avLst/>
          </a:prstGeom>
          <a:noFill/>
        </p:spPr>
        <p:txBody>
          <a:bodyPr wrap="none" tIns="109728">
            <a:spAutoFit/>
          </a:bodyPr>
          <a:lstStyle/>
          <a:p>
            <a:pPr>
              <a:defRPr sz="1050" b="1">
                <a:solidFill>
                  <a:srgbClr val="E60012"/>
                </a:solidFill>
                <a:latin typeface="Segoe UI"/>
              </a:defRPr>
            </a:pPr>
            <a:r>
              <a:t>⚠️ Limitations: Our current AI model stops at diagnosis and ticket creation, failing to execute the required fixes.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731520"/>
          </a:xfrm>
          <a:prstGeom prst="rect">
            <a:avLst/>
          </a:prstGeom>
          <a:noFill/>
        </p:spPr>
        <p:txBody>
          <a:bodyPr wrap="square" lIns="0">
            <a:spAutoFit/>
          </a:bodyPr>
          <a:lstStyle/>
          <a:p>
            <a:pPr>
              <a:defRPr sz="2400" b="1">
                <a:solidFill>
                  <a:srgbClr val="333333"/>
                </a:solidFill>
                <a:latin typeface="Segoe UI"/>
              </a:defRPr>
            </a:pPr>
            <a:r>
              <a:t>Vision: AI Assistance vs. Autonomous IT Operations</a:t>
            </a:r>
          </a:p>
        </p:txBody>
      </p:sp>
      <p:sp>
        <p:nvSpPr>
          <p:cNvPr id="4" name="TextBox 3"/>
          <p:cNvSpPr txBox="1"/>
          <p:nvPr/>
        </p:nvSpPr>
        <p:spPr>
          <a:xfrm>
            <a:off x="8686800" y="365760"/>
            <a:ext cx="2743200" cy="731520"/>
          </a:xfrm>
          <a:prstGeom prst="rect">
            <a:avLst/>
          </a:prstGeom>
          <a:noFill/>
        </p:spPr>
        <p:txBody>
          <a:bodyPr wrap="none" rIns="0">
            <a:spAutoFit/>
          </a:bodyPr>
          <a:lstStyle/>
          <a:p>
            <a:pPr algn="r">
              <a:defRPr sz="1400" b="1">
                <a:solidFill>
                  <a:srgbClr val="E60012"/>
                </a:solidFill>
                <a:latin typeface="Segoe UI"/>
              </a:defRPr>
            </a:pPr>
            <a:r>
              <a:t>BRIDGESTONE</a:t>
            </a:r>
          </a:p>
          <a:p>
            <a:pPr algn="r">
              <a:defRPr sz="850" b="1">
                <a:solidFill>
                  <a:srgbClr val="808080"/>
                </a:solidFill>
                <a:latin typeface="Segoe UI"/>
              </a:defRPr>
            </a:pPr>
            <a:r>
              <a:t>ENTERPRISE IT AGENT</a:t>
            </a:r>
          </a:p>
        </p:txBody>
      </p:sp>
      <p:sp>
        <p:nvSpPr>
          <p:cNvPr id="5" name="Rectangle 4"/>
          <p:cNvSpPr/>
          <p:nvPr/>
        </p:nvSpPr>
        <p:spPr>
          <a:xfrm>
            <a:off x="731520" y="6400800"/>
            <a:ext cx="1072865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7315200" cy="320040"/>
          </a:xfrm>
          <a:prstGeom prst="rect">
            <a:avLst/>
          </a:prstGeom>
          <a:noFill/>
        </p:spPr>
        <p:txBody>
          <a:bodyPr wrap="none" lIns="0">
            <a:spAutoFit/>
          </a:bodyPr>
          <a:lstStyle/>
          <a:p>
            <a:pPr>
              <a:defRPr sz="850">
                <a:solidFill>
                  <a:srgbClr val="808080"/>
                </a:solidFill>
                <a:latin typeface="Segoe UI"/>
              </a:defRPr>
            </a:pPr>
            <a:r>
              <a:t>Bridgestone India IT Operations  |  Autonomous Enterprise IT Support Engineer</a:t>
            </a:r>
          </a:p>
        </p:txBody>
      </p:sp>
      <p:sp>
        <p:nvSpPr>
          <p:cNvPr id="7" name="TextBox 6"/>
          <p:cNvSpPr txBox="1"/>
          <p:nvPr/>
        </p:nvSpPr>
        <p:spPr>
          <a:xfrm>
            <a:off x="9601200" y="6446520"/>
            <a:ext cx="1828800" cy="320040"/>
          </a:xfrm>
          <a:prstGeom prst="rect">
            <a:avLst/>
          </a:prstGeom>
          <a:noFill/>
        </p:spPr>
        <p:txBody>
          <a:bodyPr wrap="none" rIns="0">
            <a:spAutoFit/>
          </a:bodyPr>
          <a:lstStyle/>
          <a:p>
            <a:pPr algn="r">
              <a:defRPr sz="850">
                <a:solidFill>
                  <a:srgbClr val="808080"/>
                </a:solidFill>
                <a:latin typeface="Segoe UI"/>
              </a:defRPr>
            </a:pPr>
            <a:r>
              <a:t>2 / 6</a:t>
            </a:r>
          </a:p>
        </p:txBody>
      </p:sp>
      <p:sp>
        <p:nvSpPr>
          <p:cNvPr id="8" name="TextBox 7"/>
          <p:cNvSpPr txBox="1"/>
          <p:nvPr/>
        </p:nvSpPr>
        <p:spPr>
          <a:xfrm>
            <a:off x="731520" y="1188720"/>
            <a:ext cx="5120640" cy="365760"/>
          </a:xfrm>
          <a:prstGeom prst="rect">
            <a:avLst/>
          </a:prstGeom>
          <a:noFill/>
        </p:spPr>
        <p:txBody>
          <a:bodyPr wrap="none">
            <a:spAutoFit/>
          </a:bodyPr>
          <a:lstStyle/>
          <a:p>
            <a:pPr>
              <a:defRPr sz="1200" b="1">
                <a:solidFill>
                  <a:srgbClr val="808080"/>
                </a:solidFill>
                <a:latin typeface="Segoe UI"/>
              </a:defRPr>
            </a:pPr>
            <a:r>
              <a:t>TRADITIONAL AI ASSISTANCE</a:t>
            </a:r>
          </a:p>
        </p:txBody>
      </p:sp>
      <p:sp>
        <p:nvSpPr>
          <p:cNvPr id="9" name="Rounded Rectangle 8"/>
          <p:cNvSpPr/>
          <p:nvPr/>
        </p:nvSpPr>
        <p:spPr>
          <a:xfrm>
            <a:off x="731520" y="1645920"/>
            <a:ext cx="5120640" cy="3977639"/>
          </a:xfrm>
          <a:prstGeom prst="roundRect">
            <a:avLst>
              <a:gd name="adj" fmla="val 3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188720" y="2331720"/>
            <a:ext cx="4206240" cy="658368"/>
          </a:xfrm>
          <a:prstGeom prst="roundRect">
            <a:avLst>
              <a:gd name="adj" fmla="val 8000"/>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0" y="2331720"/>
            <a:ext cx="3840480" cy="658368"/>
          </a:xfrm>
          <a:prstGeom prst="rect">
            <a:avLst/>
          </a:prstGeom>
          <a:noFill/>
        </p:spPr>
        <p:txBody>
          <a:bodyPr wrap="square" tIns="91440">
            <a:spAutoFit/>
          </a:bodyPr>
          <a:lstStyle/>
          <a:p>
            <a:pPr>
              <a:defRPr sz="1200" b="1">
                <a:solidFill>
                  <a:srgbClr val="808080"/>
                </a:solidFill>
                <a:latin typeface="Segoe UI"/>
              </a:defRPr>
            </a:pPr>
            <a:r>
              <a:t>Diagnose</a:t>
            </a:r>
          </a:p>
          <a:p>
            <a:pPr>
              <a:defRPr sz="900">
                <a:solidFill>
                  <a:srgbClr val="808080"/>
                </a:solidFill>
                <a:latin typeface="Segoe UI"/>
              </a:defRPr>
            </a:pPr>
            <a:r>
              <a:t>Scrapes logs to identify error symptoms</a:t>
            </a:r>
          </a:p>
        </p:txBody>
      </p:sp>
      <p:sp>
        <p:nvSpPr>
          <p:cNvPr id="12" name="Down Arrow 11"/>
          <p:cNvSpPr/>
          <p:nvPr/>
        </p:nvSpPr>
        <p:spPr>
          <a:xfrm>
            <a:off x="3218688" y="3035808"/>
            <a:ext cx="146304" cy="182880"/>
          </a:xfrm>
          <a:prstGeom prst="downArrow">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1188720" y="3310128"/>
            <a:ext cx="4206240" cy="658368"/>
          </a:xfrm>
          <a:prstGeom prst="roundRect">
            <a:avLst>
              <a:gd name="adj" fmla="val 8000"/>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3310128"/>
            <a:ext cx="3840480" cy="658368"/>
          </a:xfrm>
          <a:prstGeom prst="rect">
            <a:avLst/>
          </a:prstGeom>
          <a:noFill/>
        </p:spPr>
        <p:txBody>
          <a:bodyPr wrap="square" tIns="91440">
            <a:spAutoFit/>
          </a:bodyPr>
          <a:lstStyle/>
          <a:p>
            <a:pPr>
              <a:defRPr sz="1200" b="1">
                <a:solidFill>
                  <a:srgbClr val="808080"/>
                </a:solidFill>
                <a:latin typeface="Segoe UI"/>
              </a:defRPr>
            </a:pPr>
            <a:r>
              <a:t>Create Ticket</a:t>
            </a:r>
          </a:p>
          <a:p>
            <a:pPr>
              <a:defRPr sz="900">
                <a:solidFill>
                  <a:srgbClr val="808080"/>
                </a:solidFill>
                <a:latin typeface="Segoe UI"/>
              </a:defRPr>
            </a:pPr>
            <a:r>
              <a:t>Enters metadata and assigns to IT queues</a:t>
            </a:r>
          </a:p>
        </p:txBody>
      </p:sp>
      <p:sp>
        <p:nvSpPr>
          <p:cNvPr id="15" name="Down Arrow 14"/>
          <p:cNvSpPr/>
          <p:nvPr/>
        </p:nvSpPr>
        <p:spPr>
          <a:xfrm>
            <a:off x="3218688" y="4014216"/>
            <a:ext cx="146304" cy="182880"/>
          </a:xfrm>
          <a:prstGeom prst="downArrow">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4288536"/>
            <a:ext cx="4206240" cy="658368"/>
          </a:xfrm>
          <a:prstGeom prst="roundRect">
            <a:avLst>
              <a:gd name="adj" fmla="val 8000"/>
            </a:avLst>
          </a:prstGeom>
          <a:solidFill>
            <a:srgbClr val="FFFFFF"/>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71600" y="4288536"/>
            <a:ext cx="3840480" cy="658368"/>
          </a:xfrm>
          <a:prstGeom prst="rect">
            <a:avLst/>
          </a:prstGeom>
          <a:noFill/>
        </p:spPr>
        <p:txBody>
          <a:bodyPr wrap="square" tIns="91440">
            <a:spAutoFit/>
          </a:bodyPr>
          <a:lstStyle/>
          <a:p>
            <a:pPr>
              <a:defRPr sz="1200" b="1">
                <a:solidFill>
                  <a:srgbClr val="808080"/>
                </a:solidFill>
                <a:latin typeface="Segoe UI"/>
              </a:defRPr>
            </a:pPr>
            <a:r>
              <a:t>Wait</a:t>
            </a:r>
          </a:p>
          <a:p>
            <a:pPr>
              <a:defRPr sz="900">
                <a:solidFill>
                  <a:srgbClr val="808080"/>
                </a:solidFill>
                <a:latin typeface="Segoe UI"/>
              </a:defRPr>
            </a:pPr>
            <a:r>
              <a:t>Relies entirely on human engineers for resolution</a:t>
            </a:r>
          </a:p>
        </p:txBody>
      </p:sp>
      <p:sp>
        <p:nvSpPr>
          <p:cNvPr id="18" name="TextBox 17"/>
          <p:cNvSpPr txBox="1"/>
          <p:nvPr/>
        </p:nvSpPr>
        <p:spPr>
          <a:xfrm>
            <a:off x="6217920" y="1188720"/>
            <a:ext cx="5120640" cy="365760"/>
          </a:xfrm>
          <a:prstGeom prst="rect">
            <a:avLst/>
          </a:prstGeom>
          <a:noFill/>
        </p:spPr>
        <p:txBody>
          <a:bodyPr wrap="none">
            <a:spAutoFit/>
          </a:bodyPr>
          <a:lstStyle/>
          <a:p>
            <a:pPr>
              <a:defRPr sz="1200" b="1">
                <a:solidFill>
                  <a:srgbClr val="E60012"/>
                </a:solidFill>
                <a:latin typeface="Segoe UI"/>
              </a:defRPr>
            </a:pPr>
            <a:r>
              <a:t>AUTONOMOUS AGENTIC AI</a:t>
            </a:r>
          </a:p>
        </p:txBody>
      </p:sp>
      <p:sp>
        <p:nvSpPr>
          <p:cNvPr id="19" name="Rounded Rectangle 18"/>
          <p:cNvSpPr/>
          <p:nvPr/>
        </p:nvSpPr>
        <p:spPr>
          <a:xfrm>
            <a:off x="6217920" y="1645920"/>
            <a:ext cx="5212080" cy="3977639"/>
          </a:xfrm>
          <a:prstGeom prst="roundRect">
            <a:avLst>
              <a:gd name="adj" fmla="val 3000"/>
            </a:avLst>
          </a:prstGeom>
          <a:solidFill>
            <a:srgbClr val="FFFFFF"/>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0" y="1874519"/>
            <a:ext cx="4480560" cy="50292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48272" y="2043683"/>
            <a:ext cx="164592" cy="164592"/>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22592" y="1874519"/>
            <a:ext cx="3950208" cy="502920"/>
          </a:xfrm>
          <a:prstGeom prst="rect">
            <a:avLst/>
          </a:prstGeom>
          <a:noFill/>
        </p:spPr>
        <p:txBody>
          <a:bodyPr wrap="square" tIns="54864">
            <a:spAutoFit/>
          </a:bodyPr>
          <a:lstStyle/>
          <a:p>
            <a:pPr>
              <a:defRPr sz="1050" b="1">
                <a:solidFill>
                  <a:srgbClr val="333333"/>
                </a:solidFill>
                <a:latin typeface="Segoe UI"/>
              </a:defRPr>
            </a:pPr>
            <a:r>
              <a:t>Understand Goal</a:t>
            </a:r>
          </a:p>
          <a:p>
            <a:pPr>
              <a:defRPr sz="850">
                <a:solidFill>
                  <a:srgbClr val="808080"/>
                </a:solidFill>
                <a:latin typeface="Segoe UI"/>
              </a:defRPr>
            </a:pPr>
            <a:r>
              <a:t>Interprets natural language &amp; intent</a:t>
            </a:r>
          </a:p>
        </p:txBody>
      </p:sp>
      <p:sp>
        <p:nvSpPr>
          <p:cNvPr id="23" name="Rounded Rectangle 22"/>
          <p:cNvSpPr/>
          <p:nvPr/>
        </p:nvSpPr>
        <p:spPr>
          <a:xfrm>
            <a:off x="6583680" y="2514599"/>
            <a:ext cx="4480560" cy="50292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748272" y="2683763"/>
            <a:ext cx="164592" cy="164592"/>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022592" y="2514599"/>
            <a:ext cx="3950208" cy="502920"/>
          </a:xfrm>
          <a:prstGeom prst="rect">
            <a:avLst/>
          </a:prstGeom>
          <a:noFill/>
        </p:spPr>
        <p:txBody>
          <a:bodyPr wrap="square" tIns="54864">
            <a:spAutoFit/>
          </a:bodyPr>
          <a:lstStyle/>
          <a:p>
            <a:pPr>
              <a:defRPr sz="1050" b="1">
                <a:solidFill>
                  <a:srgbClr val="333333"/>
                </a:solidFill>
                <a:latin typeface="Segoe UI"/>
              </a:defRPr>
            </a:pPr>
            <a:r>
              <a:t>Reason</a:t>
            </a:r>
          </a:p>
          <a:p>
            <a:pPr>
              <a:defRPr sz="850">
                <a:solidFill>
                  <a:srgbClr val="808080"/>
                </a:solidFill>
                <a:latin typeface="Segoe UI"/>
              </a:defRPr>
            </a:pPr>
            <a:r>
              <a:t>Decides safe action pathways based on context</a:t>
            </a:r>
          </a:p>
        </p:txBody>
      </p:sp>
      <p:sp>
        <p:nvSpPr>
          <p:cNvPr id="26" name="Rounded Rectangle 25"/>
          <p:cNvSpPr/>
          <p:nvPr/>
        </p:nvSpPr>
        <p:spPr>
          <a:xfrm>
            <a:off x="6583680" y="3154679"/>
            <a:ext cx="4480560" cy="50292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748272" y="3323843"/>
            <a:ext cx="164592" cy="164592"/>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022592" y="3154679"/>
            <a:ext cx="3950208" cy="502920"/>
          </a:xfrm>
          <a:prstGeom prst="rect">
            <a:avLst/>
          </a:prstGeom>
          <a:noFill/>
        </p:spPr>
        <p:txBody>
          <a:bodyPr wrap="square" tIns="54864">
            <a:spAutoFit/>
          </a:bodyPr>
          <a:lstStyle/>
          <a:p>
            <a:pPr>
              <a:defRPr sz="1050" b="1">
                <a:solidFill>
                  <a:srgbClr val="333333"/>
                </a:solidFill>
                <a:latin typeface="Segoe UI"/>
              </a:defRPr>
            </a:pPr>
            <a:r>
              <a:t>Plan</a:t>
            </a:r>
          </a:p>
          <a:p>
            <a:pPr>
              <a:defRPr sz="850">
                <a:solidFill>
                  <a:srgbClr val="808080"/>
                </a:solidFill>
                <a:latin typeface="Segoe UI"/>
              </a:defRPr>
            </a:pPr>
            <a:r>
              <a:t>Drafts discrete steps for the execution module</a:t>
            </a:r>
          </a:p>
        </p:txBody>
      </p:sp>
      <p:sp>
        <p:nvSpPr>
          <p:cNvPr id="29" name="Rounded Rectangle 28"/>
          <p:cNvSpPr/>
          <p:nvPr/>
        </p:nvSpPr>
        <p:spPr>
          <a:xfrm>
            <a:off x="6583680" y="3794759"/>
            <a:ext cx="4480560" cy="50292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748272" y="3963923"/>
            <a:ext cx="164592" cy="164592"/>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022592" y="3794759"/>
            <a:ext cx="3950208" cy="502920"/>
          </a:xfrm>
          <a:prstGeom prst="rect">
            <a:avLst/>
          </a:prstGeom>
          <a:noFill/>
        </p:spPr>
        <p:txBody>
          <a:bodyPr wrap="square" tIns="54864">
            <a:spAutoFit/>
          </a:bodyPr>
          <a:lstStyle/>
          <a:p>
            <a:pPr>
              <a:defRPr sz="1050" b="1">
                <a:solidFill>
                  <a:srgbClr val="333333"/>
                </a:solidFill>
                <a:latin typeface="Segoe UI"/>
              </a:defRPr>
            </a:pPr>
            <a:r>
              <a:t>Execute</a:t>
            </a:r>
          </a:p>
          <a:p>
            <a:pPr>
              <a:defRPr sz="850">
                <a:solidFill>
                  <a:srgbClr val="808080"/>
                </a:solidFill>
                <a:latin typeface="Segoe UI"/>
              </a:defRPr>
            </a:pPr>
            <a:r>
              <a:t>Applies commands directly to target laptops</a:t>
            </a:r>
          </a:p>
        </p:txBody>
      </p:sp>
      <p:sp>
        <p:nvSpPr>
          <p:cNvPr id="32" name="Rounded Rectangle 31"/>
          <p:cNvSpPr/>
          <p:nvPr/>
        </p:nvSpPr>
        <p:spPr>
          <a:xfrm>
            <a:off x="6583680" y="4434839"/>
            <a:ext cx="4480560" cy="50292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6748272" y="4604003"/>
            <a:ext cx="164592" cy="164592"/>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022592" y="4434839"/>
            <a:ext cx="3950208" cy="502920"/>
          </a:xfrm>
          <a:prstGeom prst="rect">
            <a:avLst/>
          </a:prstGeom>
          <a:noFill/>
        </p:spPr>
        <p:txBody>
          <a:bodyPr wrap="square" tIns="54864">
            <a:spAutoFit/>
          </a:bodyPr>
          <a:lstStyle/>
          <a:p>
            <a:pPr>
              <a:defRPr sz="1050" b="1">
                <a:solidFill>
                  <a:srgbClr val="333333"/>
                </a:solidFill>
                <a:latin typeface="Segoe UI"/>
              </a:defRPr>
            </a:pPr>
            <a:r>
              <a:t>Verify</a:t>
            </a:r>
          </a:p>
          <a:p>
            <a:pPr>
              <a:defRPr sz="850">
                <a:solidFill>
                  <a:srgbClr val="808080"/>
                </a:solidFill>
                <a:latin typeface="Segoe UI"/>
              </a:defRPr>
            </a:pPr>
            <a:r>
              <a:t>Validates status and rolls back if execution fails</a:t>
            </a:r>
          </a:p>
        </p:txBody>
      </p:sp>
      <p:sp>
        <p:nvSpPr>
          <p:cNvPr id="35" name="Rounded Rectangle 34"/>
          <p:cNvSpPr/>
          <p:nvPr/>
        </p:nvSpPr>
        <p:spPr>
          <a:xfrm>
            <a:off x="6583680" y="5074919"/>
            <a:ext cx="4480560" cy="347472"/>
          </a:xfrm>
          <a:prstGeom prst="roundRect">
            <a:avLst>
              <a:gd name="adj" fmla="val 8000"/>
            </a:avLst>
          </a:prstGeom>
          <a:solidFill>
            <a:srgbClr val="FFF5F5"/>
          </a:solidFill>
          <a:ln w="127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766560" y="5074919"/>
            <a:ext cx="4114800" cy="347472"/>
          </a:xfrm>
          <a:prstGeom prst="rect">
            <a:avLst/>
          </a:prstGeom>
          <a:noFill/>
        </p:spPr>
        <p:txBody>
          <a:bodyPr wrap="none" tIns="54864">
            <a:spAutoFit/>
          </a:bodyPr>
          <a:lstStyle/>
          <a:p>
            <a:pPr>
              <a:defRPr sz="950" b="1">
                <a:solidFill>
                  <a:srgbClr val="E60012"/>
                </a:solidFill>
                <a:latin typeface="Segoe UI"/>
              </a:defRPr>
            </a:pPr>
            <a:r>
              <a:t>🛡️ Safety Net: Escalate to enterprise human engineers only when necessary.</a:t>
            </a:r>
          </a:p>
        </p:txBody>
      </p:sp>
      <p:sp>
        <p:nvSpPr>
          <p:cNvPr id="37" name="Rounded Rectangle 36"/>
          <p:cNvSpPr/>
          <p:nvPr/>
        </p:nvSpPr>
        <p:spPr>
          <a:xfrm>
            <a:off x="731520" y="5779008"/>
            <a:ext cx="10698480" cy="47548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779008"/>
            <a:ext cx="10332720" cy="475488"/>
          </a:xfrm>
          <a:prstGeom prst="rect">
            <a:avLst/>
          </a:prstGeom>
          <a:noFill/>
        </p:spPr>
        <p:txBody>
          <a:bodyPr wrap="none" tIns="109728">
            <a:spAutoFit/>
          </a:bodyPr>
          <a:lstStyle/>
          <a:p>
            <a:pPr>
              <a:defRPr sz="1050" b="1">
                <a:solidFill>
                  <a:srgbClr val="333333"/>
                </a:solidFill>
                <a:latin typeface="Segoe UI"/>
              </a:defRPr>
            </a:pPr>
            <a:r>
              <a:t>Strategic Shift: Moving IT service desk workflows from simple AI assistance to fully Autonomous Operations.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731520"/>
          </a:xfrm>
          <a:prstGeom prst="rect">
            <a:avLst/>
          </a:prstGeom>
          <a:noFill/>
        </p:spPr>
        <p:txBody>
          <a:bodyPr wrap="square" lIns="0">
            <a:spAutoFit/>
          </a:bodyPr>
          <a:lstStyle/>
          <a:p>
            <a:pPr>
              <a:defRPr sz="2400" b="1">
                <a:solidFill>
                  <a:srgbClr val="333333"/>
                </a:solidFill>
                <a:latin typeface="Segoe UI"/>
              </a:defRPr>
            </a:pPr>
            <a:r>
              <a:t>Architecture: Agentic AI Integration</a:t>
            </a:r>
          </a:p>
        </p:txBody>
      </p:sp>
      <p:sp>
        <p:nvSpPr>
          <p:cNvPr id="4" name="TextBox 3"/>
          <p:cNvSpPr txBox="1"/>
          <p:nvPr/>
        </p:nvSpPr>
        <p:spPr>
          <a:xfrm>
            <a:off x="8686800" y="365760"/>
            <a:ext cx="2743200" cy="731520"/>
          </a:xfrm>
          <a:prstGeom prst="rect">
            <a:avLst/>
          </a:prstGeom>
          <a:noFill/>
        </p:spPr>
        <p:txBody>
          <a:bodyPr wrap="none" rIns="0">
            <a:spAutoFit/>
          </a:bodyPr>
          <a:lstStyle/>
          <a:p>
            <a:pPr algn="r">
              <a:defRPr sz="1400" b="1">
                <a:solidFill>
                  <a:srgbClr val="E60012"/>
                </a:solidFill>
                <a:latin typeface="Segoe UI"/>
              </a:defRPr>
            </a:pPr>
            <a:r>
              <a:t>BRIDGESTONE</a:t>
            </a:r>
          </a:p>
          <a:p>
            <a:pPr algn="r">
              <a:defRPr sz="850" b="1">
                <a:solidFill>
                  <a:srgbClr val="808080"/>
                </a:solidFill>
                <a:latin typeface="Segoe UI"/>
              </a:defRPr>
            </a:pPr>
            <a:r>
              <a:t>ENTERPRISE IT AGENT</a:t>
            </a:r>
          </a:p>
        </p:txBody>
      </p:sp>
      <p:sp>
        <p:nvSpPr>
          <p:cNvPr id="5" name="Rectangle 4"/>
          <p:cNvSpPr/>
          <p:nvPr/>
        </p:nvSpPr>
        <p:spPr>
          <a:xfrm>
            <a:off x="731520" y="6400800"/>
            <a:ext cx="1072865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7315200" cy="320040"/>
          </a:xfrm>
          <a:prstGeom prst="rect">
            <a:avLst/>
          </a:prstGeom>
          <a:noFill/>
        </p:spPr>
        <p:txBody>
          <a:bodyPr wrap="none" lIns="0">
            <a:spAutoFit/>
          </a:bodyPr>
          <a:lstStyle/>
          <a:p>
            <a:pPr>
              <a:defRPr sz="850">
                <a:solidFill>
                  <a:srgbClr val="808080"/>
                </a:solidFill>
                <a:latin typeface="Segoe UI"/>
              </a:defRPr>
            </a:pPr>
            <a:r>
              <a:t>Bridgestone India IT Operations  |  Autonomous Enterprise IT Support Engineer</a:t>
            </a:r>
          </a:p>
        </p:txBody>
      </p:sp>
      <p:sp>
        <p:nvSpPr>
          <p:cNvPr id="7" name="TextBox 6"/>
          <p:cNvSpPr txBox="1"/>
          <p:nvPr/>
        </p:nvSpPr>
        <p:spPr>
          <a:xfrm>
            <a:off x="9601200" y="6446520"/>
            <a:ext cx="1828800" cy="320040"/>
          </a:xfrm>
          <a:prstGeom prst="rect">
            <a:avLst/>
          </a:prstGeom>
          <a:noFill/>
        </p:spPr>
        <p:txBody>
          <a:bodyPr wrap="none" rIns="0">
            <a:spAutoFit/>
          </a:bodyPr>
          <a:lstStyle/>
          <a:p>
            <a:pPr algn="r">
              <a:defRPr sz="850">
                <a:solidFill>
                  <a:srgbClr val="808080"/>
                </a:solidFill>
                <a:latin typeface="Segoe UI"/>
              </a:defRPr>
            </a:pPr>
            <a:r>
              <a:t>3 / 6</a:t>
            </a:r>
          </a:p>
        </p:txBody>
      </p:sp>
      <p:sp>
        <p:nvSpPr>
          <p:cNvPr id="8" name="TextBox 7"/>
          <p:cNvSpPr txBox="1"/>
          <p:nvPr/>
        </p:nvSpPr>
        <p:spPr>
          <a:xfrm>
            <a:off x="731520" y="1188720"/>
            <a:ext cx="5120640" cy="365760"/>
          </a:xfrm>
          <a:prstGeom prst="rect">
            <a:avLst/>
          </a:prstGeom>
          <a:noFill/>
        </p:spPr>
        <p:txBody>
          <a:bodyPr wrap="none">
            <a:spAutoFit/>
          </a:bodyPr>
          <a:lstStyle/>
          <a:p>
            <a:pPr>
              <a:defRPr sz="1200" b="1">
                <a:solidFill>
                  <a:srgbClr val="333333"/>
                </a:solidFill>
                <a:latin typeface="Segoe UI"/>
              </a:defRPr>
            </a:pPr>
            <a:r>
              <a:t>END-TO-END SYSTEM STACK</a:t>
            </a:r>
          </a:p>
        </p:txBody>
      </p:sp>
      <p:sp>
        <p:nvSpPr>
          <p:cNvPr id="9" name="Rounded Rectangle 8"/>
          <p:cNvSpPr/>
          <p:nvPr/>
        </p:nvSpPr>
        <p:spPr>
          <a:xfrm>
            <a:off x="731520" y="1600200"/>
            <a:ext cx="4114800" cy="45720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600200"/>
            <a:ext cx="3840480" cy="457200"/>
          </a:xfrm>
          <a:prstGeom prst="rect">
            <a:avLst/>
          </a:prstGeom>
          <a:noFill/>
        </p:spPr>
        <p:txBody>
          <a:bodyPr wrap="square" tIns="36576">
            <a:spAutoFit/>
          </a:bodyPr>
          <a:lstStyle/>
          <a:p>
            <a:pPr>
              <a:defRPr sz="1050" b="1">
                <a:solidFill>
                  <a:srgbClr val="333333"/>
                </a:solidFill>
                <a:latin typeface="Segoe UI"/>
              </a:defRPr>
            </a:pPr>
            <a:r>
              <a:t>Employee Portal</a:t>
            </a:r>
          </a:p>
          <a:p>
            <a:pPr>
              <a:defRPr sz="850">
                <a:solidFill>
                  <a:srgbClr val="808080"/>
                </a:solidFill>
                <a:latin typeface="Segoe UI"/>
              </a:defRPr>
            </a:pPr>
            <a:r>
              <a:t>Web interface for triggering standard support requests</a:t>
            </a:r>
          </a:p>
        </p:txBody>
      </p:sp>
      <p:sp>
        <p:nvSpPr>
          <p:cNvPr id="11" name="Down Arrow 10"/>
          <p:cNvSpPr/>
          <p:nvPr/>
        </p:nvSpPr>
        <p:spPr>
          <a:xfrm>
            <a:off x="2715768" y="2075688"/>
            <a:ext cx="146304" cy="82296"/>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31520" y="2176272"/>
            <a:ext cx="4114800" cy="45720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2176272"/>
            <a:ext cx="3840480" cy="457200"/>
          </a:xfrm>
          <a:prstGeom prst="rect">
            <a:avLst/>
          </a:prstGeom>
          <a:noFill/>
        </p:spPr>
        <p:txBody>
          <a:bodyPr wrap="square" tIns="36576">
            <a:spAutoFit/>
          </a:bodyPr>
          <a:lstStyle/>
          <a:p>
            <a:pPr>
              <a:defRPr sz="1050" b="1">
                <a:solidFill>
                  <a:srgbClr val="333333"/>
                </a:solidFill>
                <a:latin typeface="Segoe UI"/>
              </a:defRPr>
            </a:pPr>
            <a:r>
              <a:t>Next.js App</a:t>
            </a:r>
          </a:p>
          <a:p>
            <a:pPr>
              <a:defRPr sz="850">
                <a:solidFill>
                  <a:srgbClr val="808080"/>
                </a:solidFill>
                <a:latin typeface="Segoe UI"/>
              </a:defRPr>
            </a:pPr>
            <a:r>
              <a:t>Frontend interface client requesting actions</a:t>
            </a:r>
          </a:p>
        </p:txBody>
      </p:sp>
      <p:sp>
        <p:nvSpPr>
          <p:cNvPr id="14" name="Down Arrow 13"/>
          <p:cNvSpPr/>
          <p:nvPr/>
        </p:nvSpPr>
        <p:spPr>
          <a:xfrm>
            <a:off x="2715768" y="2651760"/>
            <a:ext cx="146304" cy="82296"/>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31520" y="2752344"/>
            <a:ext cx="4114800" cy="45720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752344"/>
            <a:ext cx="3840480" cy="457200"/>
          </a:xfrm>
          <a:prstGeom prst="rect">
            <a:avLst/>
          </a:prstGeom>
          <a:noFill/>
        </p:spPr>
        <p:txBody>
          <a:bodyPr wrap="square" tIns="36576">
            <a:spAutoFit/>
          </a:bodyPr>
          <a:lstStyle/>
          <a:p>
            <a:pPr>
              <a:defRPr sz="1050" b="1">
                <a:solidFill>
                  <a:srgbClr val="333333"/>
                </a:solidFill>
                <a:latin typeface="Segoe UI"/>
              </a:defRPr>
            </a:pPr>
            <a:r>
              <a:t>FastAPI Backend</a:t>
            </a:r>
          </a:p>
          <a:p>
            <a:pPr>
              <a:defRPr sz="850">
                <a:solidFill>
                  <a:srgbClr val="808080"/>
                </a:solidFill>
                <a:latin typeface="Segoe UI"/>
              </a:defRPr>
            </a:pPr>
            <a:r>
              <a:t>Secure enterprise API gateway routing requests</a:t>
            </a:r>
          </a:p>
        </p:txBody>
      </p:sp>
      <p:sp>
        <p:nvSpPr>
          <p:cNvPr id="17" name="Down Arrow 16"/>
          <p:cNvSpPr/>
          <p:nvPr/>
        </p:nvSpPr>
        <p:spPr>
          <a:xfrm>
            <a:off x="2715768" y="3227832"/>
            <a:ext cx="146304" cy="82296"/>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3328416"/>
            <a:ext cx="4114800" cy="457200"/>
          </a:xfrm>
          <a:prstGeom prst="roundRect">
            <a:avLst>
              <a:gd name="adj" fmla="val 8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3328416"/>
            <a:ext cx="73152" cy="4572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3328416"/>
            <a:ext cx="3840480" cy="457200"/>
          </a:xfrm>
          <a:prstGeom prst="rect">
            <a:avLst/>
          </a:prstGeom>
          <a:noFill/>
        </p:spPr>
        <p:txBody>
          <a:bodyPr wrap="square" tIns="36576">
            <a:spAutoFit/>
          </a:bodyPr>
          <a:lstStyle/>
          <a:p>
            <a:pPr>
              <a:defRPr sz="1050" b="1">
                <a:solidFill>
                  <a:srgbClr val="E60012"/>
                </a:solidFill>
                <a:latin typeface="Segoe UI"/>
              </a:defRPr>
            </a:pPr>
            <a:r>
              <a:t>LangGraph Core</a:t>
            </a:r>
          </a:p>
          <a:p>
            <a:pPr>
              <a:defRPr sz="850">
                <a:solidFill>
                  <a:srgbClr val="808080"/>
                </a:solidFill>
                <a:latin typeface="Segoe UI"/>
              </a:defRPr>
            </a:pPr>
            <a:r>
              <a:t>Orchestrates complex multi-agent planning loops</a:t>
            </a:r>
          </a:p>
        </p:txBody>
      </p:sp>
      <p:sp>
        <p:nvSpPr>
          <p:cNvPr id="21" name="Down Arrow 20"/>
          <p:cNvSpPr/>
          <p:nvPr/>
        </p:nvSpPr>
        <p:spPr>
          <a:xfrm>
            <a:off x="2715768" y="3803904"/>
            <a:ext cx="146304" cy="82296"/>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31520" y="3904488"/>
            <a:ext cx="4114800" cy="45720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4400" y="3904488"/>
            <a:ext cx="3840480" cy="457200"/>
          </a:xfrm>
          <a:prstGeom prst="rect">
            <a:avLst/>
          </a:prstGeom>
          <a:noFill/>
        </p:spPr>
        <p:txBody>
          <a:bodyPr wrap="square" tIns="36576">
            <a:spAutoFit/>
          </a:bodyPr>
          <a:lstStyle/>
          <a:p>
            <a:pPr>
              <a:defRPr sz="1050" b="1">
                <a:solidFill>
                  <a:srgbClr val="333333"/>
                </a:solidFill>
                <a:latin typeface="Segoe UI"/>
              </a:defRPr>
            </a:pPr>
            <a:r>
              <a:t>Execution Planner</a:t>
            </a:r>
          </a:p>
          <a:p>
            <a:pPr>
              <a:defRPr sz="850">
                <a:solidFill>
                  <a:srgbClr val="808080"/>
                </a:solidFill>
                <a:latin typeface="Segoe UI"/>
              </a:defRPr>
            </a:pPr>
            <a:r>
              <a:t>Formulates precise sandbox command pipelines</a:t>
            </a:r>
          </a:p>
        </p:txBody>
      </p:sp>
      <p:sp>
        <p:nvSpPr>
          <p:cNvPr id="24" name="Down Arrow 23"/>
          <p:cNvSpPr/>
          <p:nvPr/>
        </p:nvSpPr>
        <p:spPr>
          <a:xfrm>
            <a:off x="2715768" y="4379976"/>
            <a:ext cx="146304" cy="82296"/>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31520" y="4480560"/>
            <a:ext cx="4114800" cy="45720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4480560"/>
            <a:ext cx="3840480" cy="457200"/>
          </a:xfrm>
          <a:prstGeom prst="rect">
            <a:avLst/>
          </a:prstGeom>
          <a:noFill/>
        </p:spPr>
        <p:txBody>
          <a:bodyPr wrap="square" tIns="36576">
            <a:spAutoFit/>
          </a:bodyPr>
          <a:lstStyle/>
          <a:p>
            <a:pPr>
              <a:defRPr sz="1050" b="1">
                <a:solidFill>
                  <a:srgbClr val="333333"/>
                </a:solidFill>
                <a:latin typeface="Segoe UI"/>
              </a:defRPr>
            </a:pPr>
            <a:r>
              <a:t>Enterprise Device Agent</a:t>
            </a:r>
          </a:p>
          <a:p>
            <a:pPr>
              <a:defRPr sz="850">
                <a:solidFill>
                  <a:srgbClr val="808080"/>
                </a:solidFill>
                <a:latin typeface="Segoe UI"/>
              </a:defRPr>
            </a:pPr>
            <a:r>
              <a:t>Lightweight, secure agent running locally on clients</a:t>
            </a:r>
          </a:p>
        </p:txBody>
      </p:sp>
      <p:sp>
        <p:nvSpPr>
          <p:cNvPr id="27" name="Down Arrow 26"/>
          <p:cNvSpPr/>
          <p:nvPr/>
        </p:nvSpPr>
        <p:spPr>
          <a:xfrm>
            <a:off x="2715768" y="4956048"/>
            <a:ext cx="146304" cy="82296"/>
          </a:xfrm>
          <a:prstGeom prst="down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31520" y="5056632"/>
            <a:ext cx="4114800" cy="45720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5056632"/>
            <a:ext cx="3840480" cy="457200"/>
          </a:xfrm>
          <a:prstGeom prst="rect">
            <a:avLst/>
          </a:prstGeom>
          <a:noFill/>
        </p:spPr>
        <p:txBody>
          <a:bodyPr wrap="square" tIns="36576">
            <a:spAutoFit/>
          </a:bodyPr>
          <a:lstStyle/>
          <a:p>
            <a:pPr>
              <a:defRPr sz="1050" b="1">
                <a:solidFill>
                  <a:srgbClr val="333333"/>
                </a:solidFill>
                <a:latin typeface="Segoe UI"/>
              </a:defRPr>
            </a:pPr>
            <a:r>
              <a:t>Employee Workstation</a:t>
            </a:r>
          </a:p>
          <a:p>
            <a:pPr>
              <a:defRPr sz="850">
                <a:solidFill>
                  <a:srgbClr val="808080"/>
                </a:solidFill>
                <a:latin typeface="Segoe UI"/>
              </a:defRPr>
            </a:pPr>
            <a:r>
              <a:t>Target operating system executing local modifications</a:t>
            </a:r>
          </a:p>
        </p:txBody>
      </p:sp>
      <p:sp>
        <p:nvSpPr>
          <p:cNvPr id="30" name="TextBox 29"/>
          <p:cNvSpPr txBox="1"/>
          <p:nvPr/>
        </p:nvSpPr>
        <p:spPr>
          <a:xfrm>
            <a:off x="6217920" y="1188720"/>
            <a:ext cx="5120640" cy="365760"/>
          </a:xfrm>
          <a:prstGeom prst="rect">
            <a:avLst/>
          </a:prstGeom>
          <a:noFill/>
        </p:spPr>
        <p:txBody>
          <a:bodyPr wrap="none">
            <a:spAutoFit/>
          </a:bodyPr>
          <a:lstStyle/>
          <a:p>
            <a:pPr>
              <a:defRPr sz="1200" b="1">
                <a:solidFill>
                  <a:srgbClr val="333333"/>
                </a:solidFill>
                <a:latin typeface="Segoe UI"/>
              </a:defRPr>
            </a:pPr>
            <a:r>
              <a:t>CORE COMPONENT DETAILS</a:t>
            </a:r>
          </a:p>
        </p:txBody>
      </p:sp>
      <p:sp>
        <p:nvSpPr>
          <p:cNvPr id="31" name="Rounded Rectangle 30"/>
          <p:cNvSpPr/>
          <p:nvPr/>
        </p:nvSpPr>
        <p:spPr>
          <a:xfrm>
            <a:off x="6217920" y="1645920"/>
            <a:ext cx="5212080" cy="1874519"/>
          </a:xfrm>
          <a:prstGeom prst="roundRect">
            <a:avLst>
              <a:gd name="adj" fmla="val 5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46520" y="1737360"/>
            <a:ext cx="4754880" cy="1691640"/>
          </a:xfrm>
          <a:prstGeom prst="rect">
            <a:avLst/>
          </a:prstGeom>
          <a:noFill/>
        </p:spPr>
        <p:txBody>
          <a:bodyPr wrap="square" tIns="0">
            <a:spAutoFit/>
          </a:bodyPr>
          <a:lstStyle/>
          <a:p>
            <a:pPr>
              <a:defRPr sz="1250" b="1">
                <a:solidFill>
                  <a:srgbClr val="E60012"/>
                </a:solidFill>
                <a:latin typeface="Segoe UI"/>
              </a:defRPr>
            </a:pPr>
            <a:r>
              <a:t>LangGraph Core Orchestrator</a:t>
            </a:r>
          </a:p>
          <a:p>
            <a:pPr>
              <a:defRPr sz="919">
                <a:solidFill>
                  <a:srgbClr val="333333"/>
                </a:solidFill>
                <a:latin typeface="Segoe UI"/>
              </a:defRPr>
            </a:pPr>
            <a:r>
              <a:t>• Goal Planning: Deconstructs objective statements to dynamic nodes</a:t>
            </a:r>
          </a:p>
          <a:p>
            <a:pPr>
              <a:defRPr sz="919">
                <a:solidFill>
                  <a:srgbClr val="333333"/>
                </a:solidFill>
                <a:latin typeface="Segoe UI"/>
              </a:defRPr>
            </a:pPr>
            <a:r>
              <a:t>• Multi-Agent Reasoning: Loop cycles verify authorization policies</a:t>
            </a:r>
          </a:p>
          <a:p>
            <a:pPr>
              <a:defRPr sz="919">
                <a:solidFill>
                  <a:srgbClr val="333333"/>
                </a:solidFill>
                <a:latin typeface="Segoe UI"/>
              </a:defRPr>
            </a:pPr>
            <a:r>
              <a:t>• Decision Making: Adaptive graph states handle failures autonomously</a:t>
            </a:r>
          </a:p>
          <a:p>
            <a:pPr>
              <a:defRPr sz="919">
                <a:solidFill>
                  <a:srgbClr val="333333"/>
                </a:solidFill>
                <a:latin typeface="Segoe UI"/>
              </a:defRPr>
            </a:pPr>
            <a:r>
              <a:t>• Tool Selection: Evaluates and targets best local shell bindings</a:t>
            </a:r>
          </a:p>
        </p:txBody>
      </p:sp>
      <p:sp>
        <p:nvSpPr>
          <p:cNvPr id="33" name="Rounded Rectangle 32"/>
          <p:cNvSpPr/>
          <p:nvPr/>
        </p:nvSpPr>
        <p:spPr>
          <a:xfrm>
            <a:off x="6217920" y="3703320"/>
            <a:ext cx="5212080" cy="1920240"/>
          </a:xfrm>
          <a:prstGeom prst="roundRect">
            <a:avLst>
              <a:gd name="adj" fmla="val 5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3794760"/>
            <a:ext cx="4754880" cy="1737360"/>
          </a:xfrm>
          <a:prstGeom prst="rect">
            <a:avLst/>
          </a:prstGeom>
          <a:noFill/>
        </p:spPr>
        <p:txBody>
          <a:bodyPr wrap="square" tIns="0">
            <a:spAutoFit/>
          </a:bodyPr>
          <a:lstStyle/>
          <a:p>
            <a:pPr>
              <a:defRPr sz="1250" b="1">
                <a:solidFill>
                  <a:srgbClr val="333333"/>
                </a:solidFill>
                <a:latin typeface="Segoe UI"/>
              </a:defRPr>
            </a:pPr>
            <a:r>
              <a:t>Secure Enterprise Device Agent</a:t>
            </a:r>
          </a:p>
          <a:p>
            <a:pPr>
              <a:defRPr sz="919">
                <a:solidFill>
                  <a:srgbClr val="333333"/>
                </a:solidFill>
                <a:latin typeface="Segoe UI"/>
              </a:defRPr>
            </a:pPr>
            <a:r>
              <a:t>• Lightweight Endpoint Service: Secure OS client execution</a:t>
            </a:r>
          </a:p>
          <a:p>
            <a:pPr>
              <a:defRPr sz="919">
                <a:solidFill>
                  <a:srgbClr val="333333"/>
                </a:solidFill>
                <a:latin typeface="Segoe UI"/>
              </a:defRPr>
            </a:pPr>
            <a:r>
              <a:t>• Sandboxed Commands: Prevents unauthorized filesystem operations</a:t>
            </a:r>
          </a:p>
          <a:p>
            <a:pPr>
              <a:defRPr sz="919">
                <a:solidFill>
                  <a:srgbClr val="333333"/>
                </a:solidFill>
                <a:latin typeface="Segoe UI"/>
              </a:defRPr>
            </a:pPr>
            <a:r>
              <a:t>• Execution Monitoring: Emits exit codes and terminal logs securely</a:t>
            </a:r>
          </a:p>
          <a:p>
            <a:pPr>
              <a:defRPr sz="919">
                <a:solidFill>
                  <a:srgbClr val="333333"/>
                </a:solidFill>
                <a:latin typeface="Segoe UI"/>
              </a:defRPr>
            </a:pPr>
            <a:r>
              <a:t>• Local Security Policy: Blocks actions conflicting with corporate rules</a:t>
            </a:r>
          </a:p>
        </p:txBody>
      </p:sp>
      <p:sp>
        <p:nvSpPr>
          <p:cNvPr id="35" name="Rounded Rectangle 34"/>
          <p:cNvSpPr/>
          <p:nvPr/>
        </p:nvSpPr>
        <p:spPr>
          <a:xfrm>
            <a:off x="731520" y="5779008"/>
            <a:ext cx="5029200" cy="475488"/>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8680" y="5779008"/>
            <a:ext cx="4754880" cy="475488"/>
          </a:xfrm>
          <a:prstGeom prst="rect">
            <a:avLst/>
          </a:prstGeom>
          <a:noFill/>
        </p:spPr>
        <p:txBody>
          <a:bodyPr wrap="none" tIns="109728">
            <a:spAutoFit/>
          </a:bodyPr>
          <a:lstStyle/>
          <a:p>
            <a:pPr>
              <a:defRPr sz="950">
                <a:solidFill>
                  <a:srgbClr val="333333"/>
                </a:solidFill>
                <a:latin typeface="Segoe UI"/>
              </a:defRPr>
            </a:pPr>
            <a:r>
              <a:t>Proof of Concept: Driven via local Enterprise Device Agent sandbox.</a:t>
            </a:r>
          </a:p>
        </p:txBody>
      </p:sp>
      <p:sp>
        <p:nvSpPr>
          <p:cNvPr id="37" name="Rounded Rectangle 36"/>
          <p:cNvSpPr/>
          <p:nvPr/>
        </p:nvSpPr>
        <p:spPr>
          <a:xfrm>
            <a:off x="5943600" y="5779008"/>
            <a:ext cx="5486400" cy="475488"/>
          </a:xfrm>
          <a:prstGeom prst="roundRect">
            <a:avLst>
              <a:gd name="adj" fmla="val 8000"/>
            </a:avLst>
          </a:prstGeom>
          <a:solidFill>
            <a:srgbClr val="FFFFFF"/>
          </a:solidFill>
          <a:ln w="1524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80760" y="5779008"/>
            <a:ext cx="5212080" cy="475488"/>
          </a:xfrm>
          <a:prstGeom prst="rect">
            <a:avLst/>
          </a:prstGeom>
          <a:noFill/>
        </p:spPr>
        <p:txBody>
          <a:bodyPr wrap="none" tIns="109728">
            <a:spAutoFit/>
          </a:bodyPr>
          <a:lstStyle/>
          <a:p>
            <a:pPr>
              <a:defRPr sz="950" b="1">
                <a:solidFill>
                  <a:srgbClr val="E60012"/>
                </a:solidFill>
                <a:latin typeface="Segoe UI"/>
              </a:defRPr>
            </a:pPr>
            <a:r>
              <a:t>Production Integrations: Intune | SCCM | Microsoft Graph | ServiceNow APIs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731520"/>
          </a:xfrm>
          <a:prstGeom prst="rect">
            <a:avLst/>
          </a:prstGeom>
          <a:noFill/>
        </p:spPr>
        <p:txBody>
          <a:bodyPr wrap="square" lIns="0">
            <a:spAutoFit/>
          </a:bodyPr>
          <a:lstStyle/>
          <a:p>
            <a:pPr>
              <a:defRPr sz="2400" b="1">
                <a:solidFill>
                  <a:srgbClr val="333333"/>
                </a:solidFill>
                <a:latin typeface="Segoe UI"/>
              </a:defRPr>
            </a:pPr>
            <a:r>
              <a:t>Live Demo: Request Execution Pipeline</a:t>
            </a:r>
          </a:p>
        </p:txBody>
      </p:sp>
      <p:sp>
        <p:nvSpPr>
          <p:cNvPr id="4" name="TextBox 3"/>
          <p:cNvSpPr txBox="1"/>
          <p:nvPr/>
        </p:nvSpPr>
        <p:spPr>
          <a:xfrm>
            <a:off x="8686800" y="365760"/>
            <a:ext cx="2743200" cy="731520"/>
          </a:xfrm>
          <a:prstGeom prst="rect">
            <a:avLst/>
          </a:prstGeom>
          <a:noFill/>
        </p:spPr>
        <p:txBody>
          <a:bodyPr wrap="none" rIns="0">
            <a:spAutoFit/>
          </a:bodyPr>
          <a:lstStyle/>
          <a:p>
            <a:pPr algn="r">
              <a:defRPr sz="1400" b="1">
                <a:solidFill>
                  <a:srgbClr val="E60012"/>
                </a:solidFill>
                <a:latin typeface="Segoe UI"/>
              </a:defRPr>
            </a:pPr>
            <a:r>
              <a:t>BRIDGESTONE</a:t>
            </a:r>
          </a:p>
          <a:p>
            <a:pPr algn="r">
              <a:defRPr sz="850" b="1">
                <a:solidFill>
                  <a:srgbClr val="808080"/>
                </a:solidFill>
                <a:latin typeface="Segoe UI"/>
              </a:defRPr>
            </a:pPr>
            <a:r>
              <a:t>ENTERPRISE IT AGENT</a:t>
            </a:r>
          </a:p>
        </p:txBody>
      </p:sp>
      <p:sp>
        <p:nvSpPr>
          <p:cNvPr id="5" name="Rectangle 4"/>
          <p:cNvSpPr/>
          <p:nvPr/>
        </p:nvSpPr>
        <p:spPr>
          <a:xfrm>
            <a:off x="731520" y="6400800"/>
            <a:ext cx="1072865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7315200" cy="320040"/>
          </a:xfrm>
          <a:prstGeom prst="rect">
            <a:avLst/>
          </a:prstGeom>
          <a:noFill/>
        </p:spPr>
        <p:txBody>
          <a:bodyPr wrap="none" lIns="0">
            <a:spAutoFit/>
          </a:bodyPr>
          <a:lstStyle/>
          <a:p>
            <a:pPr>
              <a:defRPr sz="850">
                <a:solidFill>
                  <a:srgbClr val="808080"/>
                </a:solidFill>
                <a:latin typeface="Segoe UI"/>
              </a:defRPr>
            </a:pPr>
            <a:r>
              <a:t>Bridgestone India IT Operations  |  Autonomous Enterprise IT Support Engineer</a:t>
            </a:r>
          </a:p>
        </p:txBody>
      </p:sp>
      <p:sp>
        <p:nvSpPr>
          <p:cNvPr id="7" name="TextBox 6"/>
          <p:cNvSpPr txBox="1"/>
          <p:nvPr/>
        </p:nvSpPr>
        <p:spPr>
          <a:xfrm>
            <a:off x="9601200" y="6446520"/>
            <a:ext cx="1828800" cy="320040"/>
          </a:xfrm>
          <a:prstGeom prst="rect">
            <a:avLst/>
          </a:prstGeom>
          <a:noFill/>
        </p:spPr>
        <p:txBody>
          <a:bodyPr wrap="none" rIns="0">
            <a:spAutoFit/>
          </a:bodyPr>
          <a:lstStyle/>
          <a:p>
            <a:pPr algn="r">
              <a:defRPr sz="850">
                <a:solidFill>
                  <a:srgbClr val="808080"/>
                </a:solidFill>
                <a:latin typeface="Segoe UI"/>
              </a:defRPr>
            </a:pPr>
            <a:r>
              <a:t>4 / 6</a:t>
            </a:r>
          </a:p>
        </p:txBody>
      </p:sp>
      <p:sp>
        <p:nvSpPr>
          <p:cNvPr id="8" name="TextBox 7"/>
          <p:cNvSpPr txBox="1"/>
          <p:nvPr/>
        </p:nvSpPr>
        <p:spPr>
          <a:xfrm>
            <a:off x="731520" y="1188720"/>
            <a:ext cx="10698480" cy="365760"/>
          </a:xfrm>
          <a:prstGeom prst="rect">
            <a:avLst/>
          </a:prstGeom>
          <a:noFill/>
        </p:spPr>
        <p:txBody>
          <a:bodyPr wrap="none">
            <a:spAutoFit/>
          </a:bodyPr>
          <a:lstStyle/>
          <a:p>
            <a:pPr>
              <a:defRPr sz="1200" b="1">
                <a:solidFill>
                  <a:srgbClr val="333333"/>
                </a:solidFill>
                <a:latin typeface="Segoe UI"/>
              </a:defRPr>
            </a:pPr>
            <a:r>
              <a:t>STEP-BY-STEP OPERATION PIPELINE (EXAMPLE: 7-ZIP INSTALLATION)</a:t>
            </a:r>
          </a:p>
        </p:txBody>
      </p:sp>
      <p:sp>
        <p:nvSpPr>
          <p:cNvPr id="9" name="Rounded Rectangle 8"/>
          <p:cNvSpPr/>
          <p:nvPr/>
        </p:nvSpPr>
        <p:spPr>
          <a:xfrm>
            <a:off x="731520" y="182880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182880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920240"/>
            <a:ext cx="1920240" cy="1280160"/>
          </a:xfrm>
          <a:prstGeom prst="rect">
            <a:avLst/>
          </a:prstGeom>
          <a:noFill/>
        </p:spPr>
        <p:txBody>
          <a:bodyPr wrap="square" tIns="91440">
            <a:spAutoFit/>
          </a:bodyPr>
          <a:lstStyle/>
          <a:p>
            <a:pPr>
              <a:defRPr sz="1100" b="1">
                <a:solidFill>
                  <a:srgbClr val="333333"/>
                </a:solidFill>
                <a:latin typeface="Segoe UI"/>
              </a:defRPr>
            </a:pPr>
            <a:r>
              <a:t>1. Employee</a:t>
            </a:r>
          </a:p>
          <a:p>
            <a:pPr>
              <a:defRPr sz="950">
                <a:solidFill>
                  <a:srgbClr val="808080"/>
                </a:solidFill>
                <a:latin typeface="Segoe UI"/>
              </a:defRPr>
            </a:pPr>
            <a:r>
              <a:t>Requests 'Install 7-Zip'</a:t>
            </a:r>
          </a:p>
        </p:txBody>
      </p:sp>
      <p:sp>
        <p:nvSpPr>
          <p:cNvPr id="12" name="Right Arrow 11"/>
          <p:cNvSpPr/>
          <p:nvPr/>
        </p:nvSpPr>
        <p:spPr>
          <a:xfrm>
            <a:off x="2720340" y="2414016"/>
            <a:ext cx="137160" cy="201168"/>
          </a:xfrm>
          <a:prstGeom prst="right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926080" y="182880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26080" y="182880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1920240"/>
            <a:ext cx="1920240" cy="1280160"/>
          </a:xfrm>
          <a:prstGeom prst="rect">
            <a:avLst/>
          </a:prstGeom>
          <a:noFill/>
        </p:spPr>
        <p:txBody>
          <a:bodyPr wrap="square" tIns="91440">
            <a:spAutoFit/>
          </a:bodyPr>
          <a:lstStyle/>
          <a:p>
            <a:pPr>
              <a:defRPr sz="1100" b="1">
                <a:solidFill>
                  <a:srgbClr val="333333"/>
                </a:solidFill>
                <a:latin typeface="Segoe UI"/>
              </a:defRPr>
            </a:pPr>
            <a:r>
              <a:t>2. AI Engine</a:t>
            </a:r>
          </a:p>
          <a:p>
            <a:pPr>
              <a:defRPr sz="950">
                <a:solidFill>
                  <a:srgbClr val="808080"/>
                </a:solidFill>
                <a:latin typeface="Segoe UI"/>
              </a:defRPr>
            </a:pPr>
            <a:r>
              <a:t>Understands user target</a:t>
            </a:r>
          </a:p>
        </p:txBody>
      </p:sp>
      <p:sp>
        <p:nvSpPr>
          <p:cNvPr id="16" name="Right Arrow 15"/>
          <p:cNvSpPr/>
          <p:nvPr/>
        </p:nvSpPr>
        <p:spPr>
          <a:xfrm>
            <a:off x="4914900" y="2414016"/>
            <a:ext cx="137160" cy="201168"/>
          </a:xfrm>
          <a:prstGeom prst="right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120640" y="182880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20640" y="182880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20640" y="1920240"/>
            <a:ext cx="1920240" cy="1280160"/>
          </a:xfrm>
          <a:prstGeom prst="rect">
            <a:avLst/>
          </a:prstGeom>
          <a:noFill/>
        </p:spPr>
        <p:txBody>
          <a:bodyPr wrap="square" tIns="91440">
            <a:spAutoFit/>
          </a:bodyPr>
          <a:lstStyle/>
          <a:p>
            <a:pPr>
              <a:defRPr sz="1100" b="1">
                <a:solidFill>
                  <a:srgbClr val="333333"/>
                </a:solidFill>
                <a:latin typeface="Segoe UI"/>
              </a:defRPr>
            </a:pPr>
            <a:r>
              <a:t>3. Policy Check</a:t>
            </a:r>
          </a:p>
          <a:p>
            <a:pPr>
              <a:defRPr sz="950">
                <a:solidFill>
                  <a:srgbClr val="808080"/>
                </a:solidFill>
                <a:latin typeface="Segoe UI"/>
              </a:defRPr>
            </a:pPr>
            <a:r>
              <a:t>Verifies compliance rules</a:t>
            </a:r>
          </a:p>
        </p:txBody>
      </p:sp>
      <p:sp>
        <p:nvSpPr>
          <p:cNvPr id="20" name="Right Arrow 19"/>
          <p:cNvSpPr/>
          <p:nvPr/>
        </p:nvSpPr>
        <p:spPr>
          <a:xfrm>
            <a:off x="7109460" y="2414016"/>
            <a:ext cx="137160" cy="201168"/>
          </a:xfrm>
          <a:prstGeom prst="right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15200" y="182880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315200" y="182880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0" y="1920240"/>
            <a:ext cx="1920240" cy="1280160"/>
          </a:xfrm>
          <a:prstGeom prst="rect">
            <a:avLst/>
          </a:prstGeom>
          <a:noFill/>
        </p:spPr>
        <p:txBody>
          <a:bodyPr wrap="square" tIns="91440">
            <a:spAutoFit/>
          </a:bodyPr>
          <a:lstStyle/>
          <a:p>
            <a:pPr>
              <a:defRPr sz="1100" b="1">
                <a:solidFill>
                  <a:srgbClr val="333333"/>
                </a:solidFill>
                <a:latin typeface="Segoe UI"/>
              </a:defRPr>
            </a:pPr>
            <a:r>
              <a:t>4. SW Catalog</a:t>
            </a:r>
          </a:p>
          <a:p>
            <a:pPr>
              <a:defRPr sz="950">
                <a:solidFill>
                  <a:srgbClr val="808080"/>
                </a:solidFill>
                <a:latin typeface="Segoe UI"/>
              </a:defRPr>
            </a:pPr>
            <a:r>
              <a:t>Resolves to 7zip package</a:t>
            </a:r>
          </a:p>
        </p:txBody>
      </p:sp>
      <p:sp>
        <p:nvSpPr>
          <p:cNvPr id="24" name="Right Arrow 23"/>
          <p:cNvSpPr/>
          <p:nvPr/>
        </p:nvSpPr>
        <p:spPr>
          <a:xfrm>
            <a:off x="9304020" y="2414016"/>
            <a:ext cx="137160" cy="201168"/>
          </a:xfrm>
          <a:prstGeom prst="right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09760" y="182880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09760" y="182880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09760" y="1920240"/>
            <a:ext cx="1920240" cy="1280160"/>
          </a:xfrm>
          <a:prstGeom prst="rect">
            <a:avLst/>
          </a:prstGeom>
          <a:noFill/>
        </p:spPr>
        <p:txBody>
          <a:bodyPr wrap="square" tIns="91440">
            <a:spAutoFit/>
          </a:bodyPr>
          <a:lstStyle/>
          <a:p>
            <a:pPr>
              <a:defRPr sz="1100" b="1">
                <a:solidFill>
                  <a:srgbClr val="333333"/>
                </a:solidFill>
                <a:latin typeface="Segoe UI"/>
              </a:defRPr>
            </a:pPr>
            <a:r>
              <a:t>5. Disk Check</a:t>
            </a:r>
          </a:p>
          <a:p>
            <a:pPr>
              <a:defRPr sz="950">
                <a:solidFill>
                  <a:srgbClr val="808080"/>
                </a:solidFill>
                <a:latin typeface="Segoe UI"/>
              </a:defRPr>
            </a:pPr>
            <a:r>
              <a:t>Confirms adequate storage</a:t>
            </a:r>
          </a:p>
        </p:txBody>
      </p:sp>
      <p:sp>
        <p:nvSpPr>
          <p:cNvPr id="28" name="Down Arrow 27"/>
          <p:cNvSpPr/>
          <p:nvPr/>
        </p:nvSpPr>
        <p:spPr>
          <a:xfrm>
            <a:off x="10369296" y="3497580"/>
            <a:ext cx="201168" cy="594360"/>
          </a:xfrm>
          <a:prstGeom prst="down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731520" y="438912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480560"/>
            <a:ext cx="1920240" cy="1280160"/>
          </a:xfrm>
          <a:prstGeom prst="rect">
            <a:avLst/>
          </a:prstGeom>
          <a:noFill/>
        </p:spPr>
        <p:txBody>
          <a:bodyPr wrap="square" tIns="91440">
            <a:spAutoFit/>
          </a:bodyPr>
          <a:lstStyle/>
          <a:p>
            <a:pPr>
              <a:defRPr sz="1100" b="1">
                <a:solidFill>
                  <a:srgbClr val="333333"/>
                </a:solidFill>
                <a:latin typeface="Segoe UI"/>
              </a:defRPr>
            </a:pPr>
            <a:r>
              <a:t>10. Notification</a:t>
            </a:r>
          </a:p>
          <a:p>
            <a:pPr>
              <a:defRPr sz="950">
                <a:solidFill>
                  <a:srgbClr val="808080"/>
                </a:solidFill>
                <a:latin typeface="Segoe UI"/>
              </a:defRPr>
            </a:pPr>
            <a:r>
              <a:t>Reports task resolution</a:t>
            </a:r>
          </a:p>
        </p:txBody>
      </p:sp>
      <p:sp>
        <p:nvSpPr>
          <p:cNvPr id="31" name="Rounded Rectangle 30"/>
          <p:cNvSpPr/>
          <p:nvPr/>
        </p:nvSpPr>
        <p:spPr>
          <a:xfrm>
            <a:off x="2926080" y="438912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26080" y="4480560"/>
            <a:ext cx="1920240" cy="1280160"/>
          </a:xfrm>
          <a:prstGeom prst="rect">
            <a:avLst/>
          </a:prstGeom>
          <a:noFill/>
        </p:spPr>
        <p:txBody>
          <a:bodyPr wrap="square" tIns="91440">
            <a:spAutoFit/>
          </a:bodyPr>
          <a:lstStyle/>
          <a:p>
            <a:pPr>
              <a:defRPr sz="1100" b="1">
                <a:solidFill>
                  <a:srgbClr val="333333"/>
                </a:solidFill>
                <a:latin typeface="Segoe UI"/>
              </a:defRPr>
            </a:pPr>
            <a:r>
              <a:t>9. Verification</a:t>
            </a:r>
          </a:p>
          <a:p>
            <a:pPr>
              <a:defRPr sz="950">
                <a:solidFill>
                  <a:srgbClr val="808080"/>
                </a:solidFill>
                <a:latin typeface="Segoe UI"/>
              </a:defRPr>
            </a:pPr>
            <a:r>
              <a:t>Performs install check</a:t>
            </a:r>
          </a:p>
        </p:txBody>
      </p:sp>
      <p:sp>
        <p:nvSpPr>
          <p:cNvPr id="33" name="Left Arrow 32"/>
          <p:cNvSpPr/>
          <p:nvPr/>
        </p:nvSpPr>
        <p:spPr>
          <a:xfrm>
            <a:off x="2720340" y="4974336"/>
            <a:ext cx="137160" cy="201168"/>
          </a:xfrm>
          <a:prstGeom prst="leftArrow">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5120640" y="4389120"/>
            <a:ext cx="1920240" cy="1371600"/>
          </a:xfrm>
          <a:prstGeom prst="roundRect">
            <a:avLst>
              <a:gd name="adj" fmla="val 12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120640" y="438912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120640" y="4480560"/>
            <a:ext cx="1920240" cy="1280160"/>
          </a:xfrm>
          <a:prstGeom prst="rect">
            <a:avLst/>
          </a:prstGeom>
          <a:noFill/>
        </p:spPr>
        <p:txBody>
          <a:bodyPr wrap="square" tIns="91440">
            <a:spAutoFit/>
          </a:bodyPr>
          <a:lstStyle/>
          <a:p>
            <a:pPr>
              <a:defRPr sz="1100" b="1">
                <a:solidFill>
                  <a:srgbClr val="E60012"/>
                </a:solidFill>
                <a:latin typeface="Segoe UI"/>
              </a:defRPr>
            </a:pPr>
            <a:r>
              <a:t>8. Winget Run</a:t>
            </a:r>
          </a:p>
          <a:p>
            <a:pPr>
              <a:defRPr sz="950">
                <a:solidFill>
                  <a:srgbClr val="808080"/>
                </a:solidFill>
                <a:latin typeface="Segoe UI"/>
              </a:defRPr>
            </a:pPr>
            <a:r>
              <a:t>Executes secure shell</a:t>
            </a:r>
          </a:p>
        </p:txBody>
      </p:sp>
      <p:sp>
        <p:nvSpPr>
          <p:cNvPr id="37" name="Left Arrow 36"/>
          <p:cNvSpPr/>
          <p:nvPr/>
        </p:nvSpPr>
        <p:spPr>
          <a:xfrm>
            <a:off x="4914900" y="4974336"/>
            <a:ext cx="137160" cy="201168"/>
          </a:xfrm>
          <a:prstGeom prst="lef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315200" y="4389120"/>
            <a:ext cx="1920240" cy="1371600"/>
          </a:xfrm>
          <a:prstGeom prst="roundRect">
            <a:avLst>
              <a:gd name="adj" fmla="val 12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315200" y="4389120"/>
            <a:ext cx="1920240"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15200" y="4480560"/>
            <a:ext cx="1920240" cy="1280160"/>
          </a:xfrm>
          <a:prstGeom prst="rect">
            <a:avLst/>
          </a:prstGeom>
          <a:noFill/>
        </p:spPr>
        <p:txBody>
          <a:bodyPr wrap="square" tIns="91440">
            <a:spAutoFit/>
          </a:bodyPr>
          <a:lstStyle/>
          <a:p>
            <a:pPr>
              <a:defRPr sz="1100" b="1">
                <a:solidFill>
                  <a:srgbClr val="E60012"/>
                </a:solidFill>
                <a:latin typeface="Segoe UI"/>
              </a:defRPr>
            </a:pPr>
            <a:r>
              <a:t>7. Device Agent</a:t>
            </a:r>
          </a:p>
          <a:p>
            <a:pPr>
              <a:defRPr sz="950">
                <a:solidFill>
                  <a:srgbClr val="808080"/>
                </a:solidFill>
                <a:latin typeface="Segoe UI"/>
              </a:defRPr>
            </a:pPr>
            <a:r>
              <a:t>Triggers sandbox client</a:t>
            </a:r>
          </a:p>
        </p:txBody>
      </p:sp>
      <p:sp>
        <p:nvSpPr>
          <p:cNvPr id="41" name="Left Arrow 40"/>
          <p:cNvSpPr/>
          <p:nvPr/>
        </p:nvSpPr>
        <p:spPr>
          <a:xfrm>
            <a:off x="7109460" y="4974336"/>
            <a:ext cx="137160" cy="201168"/>
          </a:xfrm>
          <a:prstGeom prst="lef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9509760" y="4389120"/>
            <a:ext cx="1920240" cy="1371600"/>
          </a:xfrm>
          <a:prstGeom prst="roundRect">
            <a:avLst>
              <a:gd name="adj" fmla="val 12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509760" y="4480560"/>
            <a:ext cx="1920240" cy="1280160"/>
          </a:xfrm>
          <a:prstGeom prst="rect">
            <a:avLst/>
          </a:prstGeom>
          <a:noFill/>
        </p:spPr>
        <p:txBody>
          <a:bodyPr wrap="square" tIns="91440">
            <a:spAutoFit/>
          </a:bodyPr>
          <a:lstStyle/>
          <a:p>
            <a:pPr>
              <a:defRPr sz="1100" b="1">
                <a:solidFill>
                  <a:srgbClr val="333333"/>
                </a:solidFill>
                <a:latin typeface="Segoe UI"/>
              </a:defRPr>
            </a:pPr>
            <a:r>
              <a:t>6. Exec Plan</a:t>
            </a:r>
          </a:p>
          <a:p>
            <a:pPr>
              <a:defRPr sz="950">
                <a:solidFill>
                  <a:srgbClr val="808080"/>
                </a:solidFill>
                <a:latin typeface="Segoe UI"/>
              </a:defRPr>
            </a:pPr>
            <a:r>
              <a:t>Generates safe commands</a:t>
            </a:r>
          </a:p>
        </p:txBody>
      </p:sp>
      <p:sp>
        <p:nvSpPr>
          <p:cNvPr id="44" name="Left Arrow 43"/>
          <p:cNvSpPr/>
          <p:nvPr/>
        </p:nvSpPr>
        <p:spPr>
          <a:xfrm>
            <a:off x="9304020" y="4974336"/>
            <a:ext cx="137160" cy="201168"/>
          </a:xfrm>
          <a:prstGeom prst="leftArrow">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731520"/>
          </a:xfrm>
          <a:prstGeom prst="rect">
            <a:avLst/>
          </a:prstGeom>
          <a:noFill/>
        </p:spPr>
        <p:txBody>
          <a:bodyPr wrap="square" lIns="0">
            <a:spAutoFit/>
          </a:bodyPr>
          <a:lstStyle/>
          <a:p>
            <a:pPr>
              <a:defRPr sz="2400" b="1">
                <a:solidFill>
                  <a:srgbClr val="333333"/>
                </a:solidFill>
                <a:latin typeface="Segoe UI"/>
              </a:defRPr>
            </a:pPr>
            <a:r>
              <a:t>Enterprise Deployment Roadmap</a:t>
            </a:r>
          </a:p>
        </p:txBody>
      </p:sp>
      <p:sp>
        <p:nvSpPr>
          <p:cNvPr id="4" name="TextBox 3"/>
          <p:cNvSpPr txBox="1"/>
          <p:nvPr/>
        </p:nvSpPr>
        <p:spPr>
          <a:xfrm>
            <a:off x="8686800" y="365760"/>
            <a:ext cx="2743200" cy="731520"/>
          </a:xfrm>
          <a:prstGeom prst="rect">
            <a:avLst/>
          </a:prstGeom>
          <a:noFill/>
        </p:spPr>
        <p:txBody>
          <a:bodyPr wrap="none" rIns="0">
            <a:spAutoFit/>
          </a:bodyPr>
          <a:lstStyle/>
          <a:p>
            <a:pPr algn="r">
              <a:defRPr sz="1400" b="1">
                <a:solidFill>
                  <a:srgbClr val="E60012"/>
                </a:solidFill>
                <a:latin typeface="Segoe UI"/>
              </a:defRPr>
            </a:pPr>
            <a:r>
              <a:t>BRIDGESTONE</a:t>
            </a:r>
          </a:p>
          <a:p>
            <a:pPr algn="r">
              <a:defRPr sz="850" b="1">
                <a:solidFill>
                  <a:srgbClr val="808080"/>
                </a:solidFill>
                <a:latin typeface="Segoe UI"/>
              </a:defRPr>
            </a:pPr>
            <a:r>
              <a:t>ENTERPRISE IT AGENT</a:t>
            </a:r>
          </a:p>
        </p:txBody>
      </p:sp>
      <p:sp>
        <p:nvSpPr>
          <p:cNvPr id="5" name="Rectangle 4"/>
          <p:cNvSpPr/>
          <p:nvPr/>
        </p:nvSpPr>
        <p:spPr>
          <a:xfrm>
            <a:off x="731520" y="6400800"/>
            <a:ext cx="1072865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7315200" cy="320040"/>
          </a:xfrm>
          <a:prstGeom prst="rect">
            <a:avLst/>
          </a:prstGeom>
          <a:noFill/>
        </p:spPr>
        <p:txBody>
          <a:bodyPr wrap="none" lIns="0">
            <a:spAutoFit/>
          </a:bodyPr>
          <a:lstStyle/>
          <a:p>
            <a:pPr>
              <a:defRPr sz="850">
                <a:solidFill>
                  <a:srgbClr val="808080"/>
                </a:solidFill>
                <a:latin typeface="Segoe UI"/>
              </a:defRPr>
            </a:pPr>
            <a:r>
              <a:t>Bridgestone India IT Operations  |  Autonomous Enterprise IT Support Engineer</a:t>
            </a:r>
          </a:p>
        </p:txBody>
      </p:sp>
      <p:sp>
        <p:nvSpPr>
          <p:cNvPr id="7" name="TextBox 6"/>
          <p:cNvSpPr txBox="1"/>
          <p:nvPr/>
        </p:nvSpPr>
        <p:spPr>
          <a:xfrm>
            <a:off x="9601200" y="6446520"/>
            <a:ext cx="1828800" cy="320040"/>
          </a:xfrm>
          <a:prstGeom prst="rect">
            <a:avLst/>
          </a:prstGeom>
          <a:noFill/>
        </p:spPr>
        <p:txBody>
          <a:bodyPr wrap="none" rIns="0">
            <a:spAutoFit/>
          </a:bodyPr>
          <a:lstStyle/>
          <a:p>
            <a:pPr algn="r">
              <a:defRPr sz="850">
                <a:solidFill>
                  <a:srgbClr val="808080"/>
                </a:solidFill>
                <a:latin typeface="Segoe UI"/>
              </a:defRPr>
            </a:pPr>
            <a:r>
              <a:t>5 / 6</a:t>
            </a:r>
          </a:p>
        </p:txBody>
      </p:sp>
      <p:sp>
        <p:nvSpPr>
          <p:cNvPr id="8" name="TextBox 7"/>
          <p:cNvSpPr txBox="1"/>
          <p:nvPr/>
        </p:nvSpPr>
        <p:spPr>
          <a:xfrm>
            <a:off x="731520" y="1188720"/>
            <a:ext cx="5120640" cy="365760"/>
          </a:xfrm>
          <a:prstGeom prst="rect">
            <a:avLst/>
          </a:prstGeom>
          <a:noFill/>
        </p:spPr>
        <p:txBody>
          <a:bodyPr wrap="none">
            <a:spAutoFit/>
          </a:bodyPr>
          <a:lstStyle/>
          <a:p>
            <a:pPr>
              <a:defRPr sz="1200" b="1">
                <a:solidFill>
                  <a:srgbClr val="333333"/>
                </a:solidFill>
                <a:latin typeface="Segoe UI"/>
              </a:defRPr>
            </a:pPr>
            <a:r>
              <a:t>PROPOSED DEPLOYMENT TIMELINE</a:t>
            </a:r>
          </a:p>
        </p:txBody>
      </p:sp>
      <p:sp>
        <p:nvSpPr>
          <p:cNvPr id="9" name="Rectangle 8"/>
          <p:cNvSpPr/>
          <p:nvPr/>
        </p:nvSpPr>
        <p:spPr>
          <a:xfrm>
            <a:off x="1188720" y="1828800"/>
            <a:ext cx="36576" cy="3657600"/>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280" y="1924812"/>
            <a:ext cx="219456" cy="219456"/>
          </a:xfrm>
          <a:prstGeom prst="ellipse">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1463040" y="1645920"/>
            <a:ext cx="4206240" cy="77724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1645920"/>
            <a:ext cx="3931920" cy="777240"/>
          </a:xfrm>
          <a:prstGeom prst="rect">
            <a:avLst/>
          </a:prstGeom>
          <a:noFill/>
        </p:spPr>
        <p:txBody>
          <a:bodyPr wrap="square" tIns="91440">
            <a:spAutoFit/>
          </a:bodyPr>
          <a:lstStyle/>
          <a:p>
            <a:pPr>
              <a:defRPr sz="1150" b="1">
                <a:solidFill>
                  <a:srgbClr val="333333"/>
                </a:solidFill>
                <a:latin typeface="Segoe UI"/>
              </a:defRPr>
            </a:pPr>
            <a:r>
              <a:t>Phase 1: Proof of Concept (POC)</a:t>
            </a:r>
          </a:p>
          <a:p>
            <a:pPr>
              <a:defRPr sz="919">
                <a:solidFill>
                  <a:srgbClr val="808080"/>
                </a:solidFill>
                <a:latin typeface="Segoe UI"/>
              </a:defRPr>
            </a:pPr>
            <a:r>
              <a:t>Local sandbox agent deployment and security validation</a:t>
            </a:r>
          </a:p>
        </p:txBody>
      </p:sp>
      <p:sp>
        <p:nvSpPr>
          <p:cNvPr id="13" name="Oval 12"/>
          <p:cNvSpPr/>
          <p:nvPr/>
        </p:nvSpPr>
        <p:spPr>
          <a:xfrm>
            <a:off x="1097280" y="2884932"/>
            <a:ext cx="219456" cy="219456"/>
          </a:xfrm>
          <a:prstGeom prst="ellipse">
            <a:avLst/>
          </a:prstGeom>
          <a:solidFill>
            <a:srgbClr val="808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463040" y="2606040"/>
            <a:ext cx="4206240" cy="77724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600200" y="2606040"/>
            <a:ext cx="3931920" cy="777240"/>
          </a:xfrm>
          <a:prstGeom prst="rect">
            <a:avLst/>
          </a:prstGeom>
          <a:noFill/>
        </p:spPr>
        <p:txBody>
          <a:bodyPr wrap="square" tIns="91440">
            <a:spAutoFit/>
          </a:bodyPr>
          <a:lstStyle/>
          <a:p>
            <a:pPr>
              <a:defRPr sz="1150" b="1">
                <a:solidFill>
                  <a:srgbClr val="333333"/>
                </a:solidFill>
                <a:latin typeface="Segoe UI"/>
              </a:defRPr>
            </a:pPr>
            <a:r>
              <a:t>Phase 2: Platform Integration</a:t>
            </a:r>
          </a:p>
          <a:p>
            <a:pPr>
              <a:defRPr sz="919">
                <a:solidFill>
                  <a:srgbClr val="808080"/>
                </a:solidFill>
                <a:latin typeface="Segoe UI"/>
              </a:defRPr>
            </a:pPr>
            <a:r>
              <a:t>Connect with ServiceNow ticket databases and Microsoft Graph</a:t>
            </a:r>
          </a:p>
        </p:txBody>
      </p:sp>
      <p:sp>
        <p:nvSpPr>
          <p:cNvPr id="16" name="Oval 15"/>
          <p:cNvSpPr/>
          <p:nvPr/>
        </p:nvSpPr>
        <p:spPr>
          <a:xfrm>
            <a:off x="1097280" y="3845052"/>
            <a:ext cx="219456" cy="219456"/>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63040" y="3566160"/>
            <a:ext cx="4206240" cy="777240"/>
          </a:xfrm>
          <a:prstGeom prst="roundRect">
            <a:avLst>
              <a:gd name="adj" fmla="val 8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600200" y="3566160"/>
            <a:ext cx="3931920" cy="777240"/>
          </a:xfrm>
          <a:prstGeom prst="rect">
            <a:avLst/>
          </a:prstGeom>
          <a:noFill/>
        </p:spPr>
        <p:txBody>
          <a:bodyPr wrap="square" tIns="91440">
            <a:spAutoFit/>
          </a:bodyPr>
          <a:lstStyle/>
          <a:p>
            <a:pPr>
              <a:defRPr sz="1150" b="1">
                <a:solidFill>
                  <a:srgbClr val="E60012"/>
                </a:solidFill>
                <a:latin typeface="Segoe UI"/>
              </a:defRPr>
            </a:pPr>
            <a:r>
              <a:t>Phase 3: Production Rollout</a:t>
            </a:r>
          </a:p>
          <a:p>
            <a:pPr>
              <a:defRPr sz="919">
                <a:solidFill>
                  <a:srgbClr val="808080"/>
                </a:solidFill>
                <a:latin typeface="Segoe UI"/>
              </a:defRPr>
            </a:pPr>
            <a:r>
              <a:t>Leverage Microsoft Intune &amp; SCCM pipelines for enforcement</a:t>
            </a:r>
          </a:p>
        </p:txBody>
      </p:sp>
      <p:sp>
        <p:nvSpPr>
          <p:cNvPr id="19" name="Oval 18"/>
          <p:cNvSpPr/>
          <p:nvPr/>
        </p:nvSpPr>
        <p:spPr>
          <a:xfrm>
            <a:off x="1097280" y="4805172"/>
            <a:ext cx="219456" cy="219456"/>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1463040" y="4526280"/>
            <a:ext cx="4206240" cy="777240"/>
          </a:xfrm>
          <a:prstGeom prst="roundRect">
            <a:avLst>
              <a:gd name="adj" fmla="val 8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0200" y="4526280"/>
            <a:ext cx="3931920" cy="777240"/>
          </a:xfrm>
          <a:prstGeom prst="rect">
            <a:avLst/>
          </a:prstGeom>
          <a:noFill/>
        </p:spPr>
        <p:txBody>
          <a:bodyPr wrap="square" tIns="91440">
            <a:spAutoFit/>
          </a:bodyPr>
          <a:lstStyle/>
          <a:p>
            <a:pPr>
              <a:defRPr sz="1150" b="1">
                <a:solidFill>
                  <a:srgbClr val="E60012"/>
                </a:solidFill>
                <a:latin typeface="Segoe UI"/>
              </a:defRPr>
            </a:pPr>
            <a:r>
              <a:t>Phase 4: Full Enterprise Scale</a:t>
            </a:r>
          </a:p>
          <a:p>
            <a:pPr>
              <a:defRPr sz="919">
                <a:solidFill>
                  <a:srgbClr val="808080"/>
                </a:solidFill>
                <a:latin typeface="Segoe UI"/>
              </a:defRPr>
            </a:pPr>
            <a:r>
              <a:t>Global automation across Bridgestone corporate laptops</a:t>
            </a:r>
          </a:p>
        </p:txBody>
      </p:sp>
      <p:sp>
        <p:nvSpPr>
          <p:cNvPr id="22" name="TextBox 21"/>
          <p:cNvSpPr txBox="1"/>
          <p:nvPr/>
        </p:nvSpPr>
        <p:spPr>
          <a:xfrm>
            <a:off x="6217920" y="1188720"/>
            <a:ext cx="5120640" cy="365760"/>
          </a:xfrm>
          <a:prstGeom prst="rect">
            <a:avLst/>
          </a:prstGeom>
          <a:noFill/>
        </p:spPr>
        <p:txBody>
          <a:bodyPr wrap="none">
            <a:spAutoFit/>
          </a:bodyPr>
          <a:lstStyle/>
          <a:p>
            <a:pPr>
              <a:defRPr sz="1200" b="1">
                <a:solidFill>
                  <a:srgbClr val="333333"/>
                </a:solidFill>
                <a:latin typeface="Segoe UI"/>
              </a:defRPr>
            </a:pPr>
            <a:r>
              <a:t>BUSINESS BENEFITS</a:t>
            </a:r>
          </a:p>
        </p:txBody>
      </p:sp>
      <p:sp>
        <p:nvSpPr>
          <p:cNvPr id="23" name="Rounded Rectangle 22"/>
          <p:cNvSpPr/>
          <p:nvPr/>
        </p:nvSpPr>
        <p:spPr>
          <a:xfrm>
            <a:off x="6217920" y="1645920"/>
            <a:ext cx="5212080" cy="3977639"/>
          </a:xfrm>
          <a:prstGeom prst="roundRect">
            <a:avLst>
              <a:gd name="adj" fmla="val 3000"/>
            </a:avLst>
          </a:prstGeom>
          <a:solidFill>
            <a:srgbClr val="FFFFFF"/>
          </a:solidFill>
          <a:ln w="1905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92240" y="1874519"/>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675120" y="2093975"/>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95160" y="1874519"/>
            <a:ext cx="4023360" cy="640080"/>
          </a:xfrm>
          <a:prstGeom prst="rect">
            <a:avLst/>
          </a:prstGeom>
          <a:noFill/>
        </p:spPr>
        <p:txBody>
          <a:bodyPr wrap="square" tIns="91440">
            <a:spAutoFit/>
          </a:bodyPr>
          <a:lstStyle/>
          <a:p>
            <a:pPr>
              <a:defRPr sz="1100" b="1">
                <a:solidFill>
                  <a:srgbClr val="333333"/>
                </a:solidFill>
                <a:latin typeface="Segoe UI"/>
              </a:defRPr>
            </a:pPr>
            <a:r>
              <a:t>Faster Resolution</a:t>
            </a:r>
          </a:p>
          <a:p>
            <a:pPr>
              <a:defRPr sz="850">
                <a:solidFill>
                  <a:srgbClr val="808080"/>
                </a:solidFill>
                <a:latin typeface="Segoe UI"/>
              </a:defRPr>
            </a:pPr>
            <a:r>
              <a:t>Installs and repairs software instantly on client laptops</a:t>
            </a:r>
          </a:p>
        </p:txBody>
      </p:sp>
      <p:sp>
        <p:nvSpPr>
          <p:cNvPr id="27" name="Rounded Rectangle 26"/>
          <p:cNvSpPr/>
          <p:nvPr/>
        </p:nvSpPr>
        <p:spPr>
          <a:xfrm>
            <a:off x="6492240" y="2624327"/>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6675120" y="2843783"/>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95160" y="2624327"/>
            <a:ext cx="4023360" cy="640080"/>
          </a:xfrm>
          <a:prstGeom prst="rect">
            <a:avLst/>
          </a:prstGeom>
          <a:noFill/>
        </p:spPr>
        <p:txBody>
          <a:bodyPr wrap="square" tIns="91440">
            <a:spAutoFit/>
          </a:bodyPr>
          <a:lstStyle/>
          <a:p>
            <a:pPr>
              <a:defRPr sz="1100" b="1">
                <a:solidFill>
                  <a:srgbClr val="333333"/>
                </a:solidFill>
                <a:latin typeface="Segoe UI"/>
              </a:defRPr>
            </a:pPr>
            <a:r>
              <a:t>Reduced Manual Work</a:t>
            </a:r>
          </a:p>
          <a:p>
            <a:pPr>
              <a:defRPr sz="850">
                <a:solidFill>
                  <a:srgbClr val="808080"/>
                </a:solidFill>
                <a:latin typeface="Segoe UI"/>
              </a:defRPr>
            </a:pPr>
            <a:r>
              <a:t>Frees tier 1 and tier 2 agents from routine tickets</a:t>
            </a:r>
          </a:p>
        </p:txBody>
      </p:sp>
      <p:sp>
        <p:nvSpPr>
          <p:cNvPr id="30" name="Rounded Rectangle 29"/>
          <p:cNvSpPr/>
          <p:nvPr/>
        </p:nvSpPr>
        <p:spPr>
          <a:xfrm>
            <a:off x="6492240" y="3374135"/>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6675120" y="3593591"/>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95160" y="3374135"/>
            <a:ext cx="4023360" cy="640080"/>
          </a:xfrm>
          <a:prstGeom prst="rect">
            <a:avLst/>
          </a:prstGeom>
          <a:noFill/>
        </p:spPr>
        <p:txBody>
          <a:bodyPr wrap="square" tIns="91440">
            <a:spAutoFit/>
          </a:bodyPr>
          <a:lstStyle/>
          <a:p>
            <a:pPr>
              <a:defRPr sz="1100" b="1">
                <a:solidFill>
                  <a:srgbClr val="333333"/>
                </a:solidFill>
                <a:latin typeface="Segoe UI"/>
              </a:defRPr>
            </a:pPr>
            <a:r>
              <a:t>Lower IT Cost</a:t>
            </a:r>
          </a:p>
          <a:p>
            <a:pPr>
              <a:defRPr sz="850">
                <a:solidFill>
                  <a:srgbClr val="808080"/>
                </a:solidFill>
                <a:latin typeface="Segoe UI"/>
              </a:defRPr>
            </a:pPr>
            <a:r>
              <a:t>Dramatically reduces support cost per incident</a:t>
            </a:r>
          </a:p>
        </p:txBody>
      </p:sp>
      <p:sp>
        <p:nvSpPr>
          <p:cNvPr id="33" name="Rounded Rectangle 32"/>
          <p:cNvSpPr/>
          <p:nvPr/>
        </p:nvSpPr>
        <p:spPr>
          <a:xfrm>
            <a:off x="6492240" y="4123943"/>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675120" y="4343399"/>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95160" y="4123943"/>
            <a:ext cx="4023360" cy="640080"/>
          </a:xfrm>
          <a:prstGeom prst="rect">
            <a:avLst/>
          </a:prstGeom>
          <a:noFill/>
        </p:spPr>
        <p:txBody>
          <a:bodyPr wrap="square" tIns="91440">
            <a:spAutoFit/>
          </a:bodyPr>
          <a:lstStyle/>
          <a:p>
            <a:pPr>
              <a:defRPr sz="1100" b="1">
                <a:solidFill>
                  <a:srgbClr val="333333"/>
                </a:solidFill>
                <a:latin typeface="Segoe UI"/>
              </a:defRPr>
            </a:pPr>
            <a:r>
              <a:t>Improved Productivity</a:t>
            </a:r>
          </a:p>
          <a:p>
            <a:pPr>
              <a:defRPr sz="850">
                <a:solidFill>
                  <a:srgbClr val="808080"/>
                </a:solidFill>
                <a:latin typeface="Segoe UI"/>
              </a:defRPr>
            </a:pPr>
            <a:r>
              <a:t>Zero wait-time policies keep workforce laptops operational</a:t>
            </a:r>
          </a:p>
        </p:txBody>
      </p:sp>
      <p:sp>
        <p:nvSpPr>
          <p:cNvPr id="36" name="Rounded Rectangle 35"/>
          <p:cNvSpPr/>
          <p:nvPr/>
        </p:nvSpPr>
        <p:spPr>
          <a:xfrm>
            <a:off x="6492240" y="4873751"/>
            <a:ext cx="4663440" cy="640080"/>
          </a:xfrm>
          <a:prstGeom prst="roundRect">
            <a:avLst>
              <a:gd name="adj" fmla="val 8000"/>
            </a:avLst>
          </a:prstGeom>
          <a:solidFill>
            <a:srgbClr val="F5F5F5"/>
          </a:solidFill>
          <a:ln w="12700">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6675120" y="5093207"/>
            <a:ext cx="201168" cy="201168"/>
          </a:xfrm>
          <a:prstGeom prst="ellipse">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995160" y="4873751"/>
            <a:ext cx="4023360" cy="640080"/>
          </a:xfrm>
          <a:prstGeom prst="rect">
            <a:avLst/>
          </a:prstGeom>
          <a:noFill/>
        </p:spPr>
        <p:txBody>
          <a:bodyPr wrap="square" tIns="91440">
            <a:spAutoFit/>
          </a:bodyPr>
          <a:lstStyle/>
          <a:p>
            <a:pPr>
              <a:defRPr sz="1100" b="1">
                <a:solidFill>
                  <a:srgbClr val="333333"/>
                </a:solidFill>
                <a:latin typeface="Segoe UI"/>
              </a:defRPr>
            </a:pPr>
            <a:r>
              <a:t>Enterprise Ready</a:t>
            </a:r>
          </a:p>
          <a:p>
            <a:pPr>
              <a:defRPr sz="850">
                <a:solidFill>
                  <a:srgbClr val="808080"/>
                </a:solidFill>
                <a:latin typeface="Segoe UI"/>
              </a:defRPr>
            </a:pPr>
            <a:r>
              <a:t>Integrates AD compliance, safety checks, and telemetry logs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315200" cy="731520"/>
          </a:xfrm>
          <a:prstGeom prst="rect">
            <a:avLst/>
          </a:prstGeom>
          <a:noFill/>
        </p:spPr>
        <p:txBody>
          <a:bodyPr wrap="square" lIns="0">
            <a:spAutoFit/>
          </a:bodyPr>
          <a:lstStyle/>
          <a:p>
            <a:pPr>
              <a:defRPr sz="2400" b="1">
                <a:solidFill>
                  <a:srgbClr val="333333"/>
                </a:solidFill>
                <a:latin typeface="Segoe UI"/>
              </a:defRPr>
            </a:pPr>
            <a:r>
              <a:t>Strategic Conclusion</a:t>
            </a:r>
          </a:p>
        </p:txBody>
      </p:sp>
      <p:sp>
        <p:nvSpPr>
          <p:cNvPr id="4" name="TextBox 3"/>
          <p:cNvSpPr txBox="1"/>
          <p:nvPr/>
        </p:nvSpPr>
        <p:spPr>
          <a:xfrm>
            <a:off x="8686800" y="365760"/>
            <a:ext cx="2743200" cy="731520"/>
          </a:xfrm>
          <a:prstGeom prst="rect">
            <a:avLst/>
          </a:prstGeom>
          <a:noFill/>
        </p:spPr>
        <p:txBody>
          <a:bodyPr wrap="none" rIns="0">
            <a:spAutoFit/>
          </a:bodyPr>
          <a:lstStyle/>
          <a:p>
            <a:pPr algn="r">
              <a:defRPr sz="1400" b="1">
                <a:solidFill>
                  <a:srgbClr val="E60012"/>
                </a:solidFill>
                <a:latin typeface="Segoe UI"/>
              </a:defRPr>
            </a:pPr>
            <a:r>
              <a:t>BRIDGESTONE</a:t>
            </a:r>
          </a:p>
          <a:p>
            <a:pPr algn="r">
              <a:defRPr sz="850" b="1">
                <a:solidFill>
                  <a:srgbClr val="808080"/>
                </a:solidFill>
                <a:latin typeface="Segoe UI"/>
              </a:defRPr>
            </a:pPr>
            <a:r>
              <a:t>ENTERPRISE IT AGENT</a:t>
            </a:r>
          </a:p>
        </p:txBody>
      </p:sp>
      <p:sp>
        <p:nvSpPr>
          <p:cNvPr id="5" name="Rectangle 4"/>
          <p:cNvSpPr/>
          <p:nvPr/>
        </p:nvSpPr>
        <p:spPr>
          <a:xfrm>
            <a:off x="731520" y="6400800"/>
            <a:ext cx="10728655" cy="9144"/>
          </a:xfrm>
          <a:prstGeom prst="rect">
            <a:avLst/>
          </a:prstGeom>
          <a:solidFill>
            <a:srgbClr val="DCDC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7315200" cy="320040"/>
          </a:xfrm>
          <a:prstGeom prst="rect">
            <a:avLst/>
          </a:prstGeom>
          <a:noFill/>
        </p:spPr>
        <p:txBody>
          <a:bodyPr wrap="none" lIns="0">
            <a:spAutoFit/>
          </a:bodyPr>
          <a:lstStyle/>
          <a:p>
            <a:pPr>
              <a:defRPr sz="850">
                <a:solidFill>
                  <a:srgbClr val="808080"/>
                </a:solidFill>
                <a:latin typeface="Segoe UI"/>
              </a:defRPr>
            </a:pPr>
            <a:r>
              <a:t>Bridgestone India IT Operations  |  Autonomous Enterprise IT Support Engineer</a:t>
            </a:r>
          </a:p>
        </p:txBody>
      </p:sp>
      <p:sp>
        <p:nvSpPr>
          <p:cNvPr id="7" name="TextBox 6"/>
          <p:cNvSpPr txBox="1"/>
          <p:nvPr/>
        </p:nvSpPr>
        <p:spPr>
          <a:xfrm>
            <a:off x="9601200" y="6446520"/>
            <a:ext cx="1828800" cy="320040"/>
          </a:xfrm>
          <a:prstGeom prst="rect">
            <a:avLst/>
          </a:prstGeom>
          <a:noFill/>
        </p:spPr>
        <p:txBody>
          <a:bodyPr wrap="none" rIns="0">
            <a:spAutoFit/>
          </a:bodyPr>
          <a:lstStyle/>
          <a:p>
            <a:pPr algn="r">
              <a:defRPr sz="850">
                <a:solidFill>
                  <a:srgbClr val="808080"/>
                </a:solidFill>
                <a:latin typeface="Segoe UI"/>
              </a:defRPr>
            </a:pPr>
            <a:r>
              <a:t>6 / 6</a:t>
            </a:r>
          </a:p>
        </p:txBody>
      </p:sp>
      <p:sp>
        <p:nvSpPr>
          <p:cNvPr id="8" name="Rounded Rectangle 7"/>
          <p:cNvSpPr/>
          <p:nvPr/>
        </p:nvSpPr>
        <p:spPr>
          <a:xfrm>
            <a:off x="731520" y="1645920"/>
            <a:ext cx="10698480" cy="3977639"/>
          </a:xfrm>
          <a:prstGeom prst="roundRect">
            <a:avLst>
              <a:gd name="adj" fmla="val 3000"/>
            </a:avLst>
          </a:prstGeom>
          <a:solidFill>
            <a:srgbClr val="FFFFFF"/>
          </a:solidFill>
          <a:ln w="25400">
            <a:solidFill>
              <a:srgbClr val="E6001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88720" y="2011680"/>
            <a:ext cx="109728" cy="3200400"/>
          </a:xfrm>
          <a:prstGeom prst="rect">
            <a:avLst/>
          </a:prstGeom>
          <a:solidFill>
            <a:srgbClr val="E600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554480" y="1920240"/>
            <a:ext cx="9326880" cy="3383280"/>
          </a:xfrm>
          <a:prstGeom prst="rect">
            <a:avLst/>
          </a:prstGeom>
          <a:noFill/>
        </p:spPr>
        <p:txBody>
          <a:bodyPr wrap="square">
            <a:spAutoFit/>
          </a:bodyPr>
          <a:lstStyle/>
          <a:p>
            <a:pPr>
              <a:defRPr sz="1800" b="1">
                <a:solidFill>
                  <a:srgbClr val="E60012"/>
                </a:solidFill>
                <a:latin typeface="Segoe UI"/>
              </a:defRPr>
            </a:pPr>
            <a:r>
              <a:t>FUTURE VISION</a:t>
            </a:r>
          </a:p>
          <a:p/>
          <a:p>
            <a:pPr>
              <a:defRPr sz="2100" i="1" b="1">
                <a:solidFill>
                  <a:srgbClr val="333333"/>
                </a:solidFill>
                <a:latin typeface="Segoe UI"/>
              </a:defRPr>
            </a:pPr>
            <a:r>
              <a:t>"Our goal is not just to automate ticket creation.</a:t>
            </a:r>
          </a:p>
          <a:p>
            <a:pPr>
              <a:defRPr sz="2100" i="1" b="1">
                <a:solidFill>
                  <a:srgbClr val="333333"/>
                </a:solidFill>
                <a:latin typeface="Segoe UI"/>
              </a:defRPr>
            </a:pPr>
            <a:r>
              <a:t>Our vision is to build an Autonomous Enterprise IT Support Engineer capable of understanding goals, planning actions, executing approved IT operations, verifying outcomes, and collaborating with human engineers only when necessary."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